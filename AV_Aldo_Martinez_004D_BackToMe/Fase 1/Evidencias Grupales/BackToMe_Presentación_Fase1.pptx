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Montserrat"/>
      <p:bold r:id="rId28"/>
      <p:boldItalic r:id="rId29"/>
    </p:embeddedFont>
    <p:embeddedFont>
      <p:font typeface="DM Sans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jFofUU4hFUjCSAbE899jvGc0GW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FA424D-75D5-4461-BF4F-320664B3C38E}">
  <a:tblStyle styleId="{DCFA424D-75D5-4461-BF4F-320664B3C3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4402403" y="3980974"/>
            <a:ext cx="9483194" cy="2410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49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BackToMe</a:t>
            </a:r>
            <a:endParaRPr/>
          </a:p>
          <a:p>
            <a:pPr indent="0" lvl="0" marL="0" marR="0" rtl="0" algn="ctr">
              <a:lnSpc>
                <a:spcPct val="702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49" u="none" cap="none" strike="noStrike">
              <a:solidFill>
                <a:srgbClr val="17211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Gestión de custodia y Devolución de objetos extraviados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76300" y="485775"/>
            <a:ext cx="2095500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BACKTOME / CAPSTONE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7611427"/>
            <a:ext cx="8777477" cy="1646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endParaRPr/>
          </a:p>
          <a:p>
            <a:pPr indent="-307661" lvl="1" marL="615321" marR="0" rtl="0" algn="l">
              <a:lnSpc>
                <a:spcPct val="104982"/>
              </a:lnSpc>
              <a:spcBef>
                <a:spcPts val="0"/>
              </a:spcBef>
              <a:spcAft>
                <a:spcPts val="0"/>
              </a:spcAft>
              <a:buClr>
                <a:srgbClr val="17211C"/>
              </a:buClr>
              <a:buSzPts val="2850"/>
              <a:buFont typeface="Arial"/>
              <a:buChar char="•"/>
            </a:pPr>
            <a:r>
              <a:rPr b="1" i="0" lang="en-US" sz="28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Mauricio Urrutia</a:t>
            </a:r>
            <a:endParaRPr/>
          </a:p>
          <a:p>
            <a:pPr indent="-307661" lvl="1" marL="615321" marR="0" rtl="0" algn="l">
              <a:lnSpc>
                <a:spcPct val="104982"/>
              </a:lnSpc>
              <a:spcBef>
                <a:spcPts val="0"/>
              </a:spcBef>
              <a:spcAft>
                <a:spcPts val="0"/>
              </a:spcAft>
              <a:buClr>
                <a:srgbClr val="17211C"/>
              </a:buClr>
              <a:buSzPts val="2850"/>
              <a:buFont typeface="Arial"/>
              <a:buChar char="•"/>
            </a:pPr>
            <a:r>
              <a:rPr b="1" i="0" lang="en-US" sz="28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Lucero Leyva</a:t>
            </a:r>
            <a:endParaRPr/>
          </a:p>
          <a:p>
            <a:pPr indent="-307661" lvl="1" marL="615321" marR="0" rtl="0" algn="l">
              <a:lnSpc>
                <a:spcPct val="104982"/>
              </a:lnSpc>
              <a:spcBef>
                <a:spcPts val="0"/>
              </a:spcBef>
              <a:spcAft>
                <a:spcPts val="0"/>
              </a:spcAft>
              <a:buClr>
                <a:srgbClr val="17211C"/>
              </a:buClr>
              <a:buSzPts val="2850"/>
              <a:buFont typeface="Arial"/>
              <a:buChar char="•"/>
            </a:pPr>
            <a:r>
              <a:rPr b="1" i="0" lang="en-US" sz="28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Renato Caro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Índice</a:t>
            </a:r>
            <a:endParaRPr/>
          </a:p>
        </p:txBody>
      </p:sp>
      <p:grpSp>
        <p:nvGrpSpPr>
          <p:cNvPr id="95" name="Google Shape;95;p2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8" name="Google Shape;98;p2"/>
          <p:cNvCxnSpPr/>
          <p:nvPr/>
        </p:nvCxnSpPr>
        <p:spPr>
          <a:xfrm>
            <a:off x="4629150" y="336232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9" name="Google Shape;99;p2"/>
          <p:cNvCxnSpPr/>
          <p:nvPr/>
        </p:nvCxnSpPr>
        <p:spPr>
          <a:xfrm>
            <a:off x="8724900" y="336232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0" name="Google Shape;100;p2"/>
          <p:cNvCxnSpPr/>
          <p:nvPr/>
        </p:nvCxnSpPr>
        <p:spPr>
          <a:xfrm>
            <a:off x="12820650" y="336232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" name="Google Shape;101;p2"/>
          <p:cNvCxnSpPr/>
          <p:nvPr/>
        </p:nvCxnSpPr>
        <p:spPr>
          <a:xfrm>
            <a:off x="4629150" y="536257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2" name="Google Shape;102;p2"/>
          <p:cNvCxnSpPr/>
          <p:nvPr/>
        </p:nvCxnSpPr>
        <p:spPr>
          <a:xfrm>
            <a:off x="8724900" y="536257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3" name="Google Shape;103;p2"/>
          <p:cNvCxnSpPr/>
          <p:nvPr/>
        </p:nvCxnSpPr>
        <p:spPr>
          <a:xfrm>
            <a:off x="12820650" y="536257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4" name="Google Shape;104;p2"/>
          <p:cNvCxnSpPr/>
          <p:nvPr/>
        </p:nvCxnSpPr>
        <p:spPr>
          <a:xfrm>
            <a:off x="4629150" y="736282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5" name="Google Shape;105;p2"/>
          <p:cNvCxnSpPr/>
          <p:nvPr/>
        </p:nvCxnSpPr>
        <p:spPr>
          <a:xfrm>
            <a:off x="8724900" y="736282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6" name="Google Shape;106;p2"/>
          <p:cNvCxnSpPr/>
          <p:nvPr/>
        </p:nvCxnSpPr>
        <p:spPr>
          <a:xfrm>
            <a:off x="12820650" y="7362825"/>
            <a:ext cx="247650" cy="0"/>
          </a:xfrm>
          <a:prstGeom prst="straightConnector1">
            <a:avLst/>
          </a:prstGeom>
          <a:noFill/>
          <a:ln cap="rnd" cmpd="sng" w="38100">
            <a:solidFill>
              <a:srgbClr val="DCE5DF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107" name="Google Shape;107;p2"/>
          <p:cNvGrpSpPr/>
          <p:nvPr/>
        </p:nvGrpSpPr>
        <p:grpSpPr>
          <a:xfrm>
            <a:off x="876300" y="2609850"/>
            <a:ext cx="3714750" cy="1504950"/>
            <a:chOff x="0" y="0"/>
            <a:chExt cx="4953000" cy="20066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Introducción</a:t>
              </a:r>
              <a:endParaRPr/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4972050" y="2609850"/>
            <a:ext cx="3714750" cy="1504950"/>
            <a:chOff x="0" y="0"/>
            <a:chExt cx="4953000" cy="20066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Contexto</a:t>
              </a:r>
              <a:endParaRPr/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9067800" y="2609850"/>
            <a:ext cx="3714750" cy="1504950"/>
            <a:chOff x="0" y="0"/>
            <a:chExt cx="4953000" cy="200660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Problemática</a:t>
              </a:r>
              <a:endParaRPr/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3163550" y="2609850"/>
            <a:ext cx="3714750" cy="1504950"/>
            <a:chOff x="0" y="0"/>
            <a:chExt cx="4953000" cy="2006600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Solución</a:t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876300" y="4610100"/>
            <a:ext cx="3714750" cy="1504950"/>
            <a:chOff x="0" y="0"/>
            <a:chExt cx="4953000" cy="20066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330200" y="1019175"/>
              <a:ext cx="4241800" cy="734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Metodología / Plan / Roles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4972050" y="4610100"/>
            <a:ext cx="3714750" cy="1504950"/>
            <a:chOff x="0" y="0"/>
            <a:chExt cx="4953000" cy="20066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330200" y="1019175"/>
              <a:ext cx="4241800" cy="734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Mapa tecnológico / Arquitectura</a:t>
              </a:r>
              <a:endParaRPr/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9067800" y="4610100"/>
            <a:ext cx="3714750" cy="1504950"/>
            <a:chOff x="0" y="0"/>
            <a:chExt cx="4953000" cy="2006600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07</a:t>
              </a:r>
              <a:endParaRPr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Competencias</a:t>
              </a:r>
              <a:endParaRPr/>
            </a:p>
          </p:txBody>
        </p:sp>
      </p:grpSp>
      <p:grpSp>
        <p:nvGrpSpPr>
          <p:cNvPr id="135" name="Google Shape;135;p2"/>
          <p:cNvGrpSpPr/>
          <p:nvPr/>
        </p:nvGrpSpPr>
        <p:grpSpPr>
          <a:xfrm>
            <a:off x="13163550" y="4610100"/>
            <a:ext cx="3714750" cy="1504950"/>
            <a:chOff x="0" y="0"/>
            <a:chExt cx="4953000" cy="2006600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08</a:t>
              </a:r>
              <a:endParaRPr/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Riesgos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876300" y="6610350"/>
            <a:ext cx="3714750" cy="1504950"/>
            <a:chOff x="0" y="0"/>
            <a:chExt cx="4953000" cy="2006600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09</a:t>
              </a:r>
              <a:endParaRPr/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Seguridad</a:t>
              </a:r>
              <a:endParaRPr/>
            </a:p>
          </p:txBody>
        </p:sp>
      </p:grpSp>
      <p:grpSp>
        <p:nvGrpSpPr>
          <p:cNvPr id="143" name="Google Shape;143;p2"/>
          <p:cNvGrpSpPr/>
          <p:nvPr/>
        </p:nvGrpSpPr>
        <p:grpSpPr>
          <a:xfrm>
            <a:off x="4972050" y="6610350"/>
            <a:ext cx="3714750" cy="1504950"/>
            <a:chOff x="0" y="0"/>
            <a:chExt cx="4953000" cy="2006600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</a:t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Modelo de negocio</a:t>
              </a:r>
              <a:endParaRPr/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9067800" y="6610350"/>
            <a:ext cx="3714750" cy="1504950"/>
            <a:chOff x="0" y="0"/>
            <a:chExt cx="4953000" cy="2006600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11</a:t>
              </a:r>
              <a:endParaRPr/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Mockup</a:t>
              </a:r>
              <a:endParaRPr/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13163550" y="6610350"/>
            <a:ext cx="3714750" cy="1504950"/>
            <a:chOff x="0" y="0"/>
            <a:chExt cx="4953000" cy="200660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4953000" cy="2006600"/>
            </a:xfrm>
            <a:custGeom>
              <a:rect b="b" l="l" r="r" t="t"/>
              <a:pathLst>
                <a:path extrusionOk="0" h="2006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47985"/>
                  </a:lnTo>
                  <a:cubicBezTo>
                    <a:pt x="4953000" y="1980357"/>
                    <a:pt x="4926757" y="2006600"/>
                    <a:pt x="4894385" y="2006600"/>
                  </a:cubicBezTo>
                  <a:lnTo>
                    <a:pt x="58615" y="2006600"/>
                  </a:lnTo>
                  <a:cubicBezTo>
                    <a:pt x="26243" y="2006600"/>
                    <a:pt x="0" y="1980357"/>
                    <a:pt x="0" y="1947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DCFC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330200" y="371475"/>
              <a:ext cx="9144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</a:t>
              </a:r>
              <a:endParaRPr/>
            </a:p>
          </p:txBody>
        </p:sp>
        <p:sp>
          <p:nvSpPr>
            <p:cNvPr id="154" name="Google Shape;154;p2"/>
            <p:cNvSpPr txBox="1"/>
            <p:nvPr/>
          </p:nvSpPr>
          <p:spPr>
            <a:xfrm>
              <a:off x="330200" y="1019175"/>
              <a:ext cx="4241800" cy="378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Conclusión</a:t>
              </a:r>
              <a:endParaRPr/>
            </a:p>
          </p:txBody>
        </p:sp>
      </p:grpSp>
      <p:sp>
        <p:nvSpPr>
          <p:cNvPr id="155" name="Google Shape;155;p2"/>
          <p:cNvSpPr txBox="1"/>
          <p:nvPr/>
        </p:nvSpPr>
        <p:spPr>
          <a:xfrm>
            <a:off x="16764000" y="9725025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01 / 13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Introducción</a:t>
            </a:r>
            <a:endParaRPr/>
          </a:p>
        </p:txBody>
      </p:sp>
      <p:grpSp>
        <p:nvGrpSpPr>
          <p:cNvPr id="161" name="Google Shape;161;p3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63" name="Google Shape;163;p3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876300" y="2571750"/>
            <a:ext cx="7239000" cy="5334000"/>
          </a:xfrm>
          <a:custGeom>
            <a:rect b="b" l="l" r="r" t="t"/>
            <a:pathLst>
              <a:path extrusionOk="0" h="7112000" w="9652000">
                <a:moveTo>
                  <a:pt x="30079" y="0"/>
                </a:moveTo>
                <a:lnTo>
                  <a:pt x="9621921" y="0"/>
                </a:lnTo>
                <a:cubicBezTo>
                  <a:pt x="9629898" y="0"/>
                  <a:pt x="9637549" y="3169"/>
                  <a:pt x="9643190" y="8810"/>
                </a:cubicBezTo>
                <a:cubicBezTo>
                  <a:pt x="9648831" y="14451"/>
                  <a:pt x="9652000" y="22102"/>
                  <a:pt x="9652000" y="30079"/>
                </a:cubicBezTo>
                <a:lnTo>
                  <a:pt x="9652000" y="7081921"/>
                </a:lnTo>
                <a:cubicBezTo>
                  <a:pt x="9652000" y="7089898"/>
                  <a:pt x="9648831" y="7097549"/>
                  <a:pt x="9643190" y="7103190"/>
                </a:cubicBezTo>
                <a:cubicBezTo>
                  <a:pt x="9637549" y="7108831"/>
                  <a:pt x="9629898" y="7112000"/>
                  <a:pt x="9621921" y="7112000"/>
                </a:cubicBezTo>
                <a:lnTo>
                  <a:pt x="30079" y="7112000"/>
                </a:lnTo>
                <a:cubicBezTo>
                  <a:pt x="22102" y="7112000"/>
                  <a:pt x="14451" y="7108831"/>
                  <a:pt x="8810" y="7103190"/>
                </a:cubicBezTo>
                <a:cubicBezTo>
                  <a:pt x="3169" y="7097549"/>
                  <a:pt x="0" y="7089898"/>
                  <a:pt x="0" y="7081921"/>
                </a:cubicBezTo>
                <a:lnTo>
                  <a:pt x="0" y="30079"/>
                </a:lnTo>
                <a:cubicBezTo>
                  <a:pt x="0" y="22102"/>
                  <a:pt x="3169" y="14451"/>
                  <a:pt x="8810" y="8810"/>
                </a:cubicBezTo>
                <a:cubicBezTo>
                  <a:pt x="14451" y="3169"/>
                  <a:pt x="22102" y="0"/>
                  <a:pt x="3007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10172700" y="2571750"/>
            <a:ext cx="7239000" cy="5334000"/>
          </a:xfrm>
          <a:custGeom>
            <a:rect b="b" l="l" r="r" t="t"/>
            <a:pathLst>
              <a:path extrusionOk="0" h="7112000" w="9652000">
                <a:moveTo>
                  <a:pt x="30079" y="0"/>
                </a:moveTo>
                <a:lnTo>
                  <a:pt x="9621921" y="0"/>
                </a:lnTo>
                <a:cubicBezTo>
                  <a:pt x="9629898" y="0"/>
                  <a:pt x="9637549" y="3169"/>
                  <a:pt x="9643190" y="8810"/>
                </a:cubicBezTo>
                <a:cubicBezTo>
                  <a:pt x="9648831" y="14451"/>
                  <a:pt x="9652000" y="22102"/>
                  <a:pt x="9652000" y="30079"/>
                </a:cubicBezTo>
                <a:lnTo>
                  <a:pt x="9652000" y="7081921"/>
                </a:lnTo>
                <a:cubicBezTo>
                  <a:pt x="9652000" y="7089898"/>
                  <a:pt x="9648831" y="7097549"/>
                  <a:pt x="9643190" y="7103190"/>
                </a:cubicBezTo>
                <a:cubicBezTo>
                  <a:pt x="9637549" y="7108831"/>
                  <a:pt x="9629898" y="7112000"/>
                  <a:pt x="9621921" y="7112000"/>
                </a:cubicBezTo>
                <a:lnTo>
                  <a:pt x="30079" y="7112000"/>
                </a:lnTo>
                <a:cubicBezTo>
                  <a:pt x="22102" y="7112000"/>
                  <a:pt x="14451" y="7108831"/>
                  <a:pt x="8810" y="7103190"/>
                </a:cubicBezTo>
                <a:cubicBezTo>
                  <a:pt x="3169" y="7097549"/>
                  <a:pt x="0" y="7089898"/>
                  <a:pt x="0" y="7081921"/>
                </a:cubicBezTo>
                <a:lnTo>
                  <a:pt x="0" y="30079"/>
                </a:lnTo>
                <a:cubicBezTo>
                  <a:pt x="0" y="22102"/>
                  <a:pt x="3169" y="14451"/>
                  <a:pt x="8810" y="8810"/>
                </a:cubicBezTo>
                <a:cubicBezTo>
                  <a:pt x="14451" y="3169"/>
                  <a:pt x="22102" y="0"/>
                  <a:pt x="30079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1257300" y="2800350"/>
            <a:ext cx="619125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PROCESO MANUAL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1257300" y="3381375"/>
            <a:ext cx="6286500" cy="7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Fragmentado. Informal. Difícil de auditar.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1257300" y="4629150"/>
            <a:ext cx="5429250" cy="1761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Libros de guardia</a:t>
            </a:r>
            <a:endParaRPr/>
          </a:p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Grupos informales</a:t>
            </a:r>
            <a:endParaRPr/>
          </a:p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Oficinas físicas</a:t>
            </a:r>
            <a:endParaRPr/>
          </a:p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Datos expuestos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10572750" y="2800350"/>
            <a:ext cx="619125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BACKTOME DIGITAL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10572750" y="3381375"/>
            <a:ext cx="6191250" cy="7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Una plataforma. Cada entrega, verificable.</a:t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10572750" y="4629150"/>
            <a:ext cx="5429250" cy="1761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SaaS multi-tenant</a:t>
            </a:r>
            <a:endParaRPr/>
          </a:p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PWA responsiva</a:t>
            </a:r>
            <a:endParaRPr/>
          </a:p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QR opcional</a:t>
            </a:r>
            <a:endParaRPr/>
          </a:p>
          <a:p>
            <a:pPr indent="0" lvl="0" marL="0" marR="0" rtl="0" algn="l">
              <a:lnSpc>
                <a:spcPct val="164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Actas digitales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2476500" y="8239125"/>
            <a:ext cx="1333500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Computadores · teléfonos · llaves · credenciales · mochilas · documentos</a:t>
            </a:r>
            <a:endParaRPr/>
          </a:p>
        </p:txBody>
      </p:sp>
      <p:cxnSp>
        <p:nvCxnSpPr>
          <p:cNvPr id="173" name="Google Shape;173;p3"/>
          <p:cNvCxnSpPr/>
          <p:nvPr/>
        </p:nvCxnSpPr>
        <p:spPr>
          <a:xfrm>
            <a:off x="8382000" y="5191125"/>
            <a:ext cx="1428750" cy="0"/>
          </a:xfrm>
          <a:prstGeom prst="straightConnector1">
            <a:avLst/>
          </a:prstGeom>
          <a:noFill/>
          <a:ln cap="rnd" cmpd="sng" w="38100">
            <a:solidFill>
              <a:srgbClr val="FF6B4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4" name="Google Shape;174;p3"/>
          <p:cNvSpPr txBox="1"/>
          <p:nvPr/>
        </p:nvSpPr>
        <p:spPr>
          <a:xfrm>
            <a:off x="16764000" y="9744075"/>
            <a:ext cx="666750" cy="23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02 / 13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endParaRPr/>
          </a:p>
        </p:txBody>
      </p:sp>
      <p:grpSp>
        <p:nvGrpSpPr>
          <p:cNvPr id="180" name="Google Shape;180;p4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181" name="Google Shape;181;p4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82" name="Google Shape;182;p4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4"/>
          <p:cNvSpPr/>
          <p:nvPr/>
        </p:nvSpPr>
        <p:spPr>
          <a:xfrm>
            <a:off x="6858000" y="3714750"/>
            <a:ext cx="4572000" cy="2190750"/>
          </a:xfrm>
          <a:custGeom>
            <a:rect b="b" l="l" r="r" t="t"/>
            <a:pathLst>
              <a:path extrusionOk="0" h="2921000" w="6096000">
                <a:moveTo>
                  <a:pt x="105833" y="0"/>
                </a:moveTo>
                <a:lnTo>
                  <a:pt x="5990167" y="0"/>
                </a:lnTo>
                <a:cubicBezTo>
                  <a:pt x="6018235" y="0"/>
                  <a:pt x="6045155" y="11150"/>
                  <a:pt x="6065002" y="30998"/>
                </a:cubicBezTo>
                <a:cubicBezTo>
                  <a:pt x="6084850" y="50845"/>
                  <a:pt x="6096000" y="77765"/>
                  <a:pt x="6096000" y="105833"/>
                </a:cubicBezTo>
                <a:lnTo>
                  <a:pt x="6096000" y="2815167"/>
                </a:lnTo>
                <a:cubicBezTo>
                  <a:pt x="6096000" y="2843235"/>
                  <a:pt x="6084850" y="2870154"/>
                  <a:pt x="6065002" y="2890002"/>
                </a:cubicBezTo>
                <a:cubicBezTo>
                  <a:pt x="6045155" y="2909850"/>
                  <a:pt x="6018235" y="2921000"/>
                  <a:pt x="5990167" y="2921000"/>
                </a:cubicBezTo>
                <a:lnTo>
                  <a:pt x="105833" y="2921000"/>
                </a:lnTo>
                <a:cubicBezTo>
                  <a:pt x="77765" y="2921000"/>
                  <a:pt x="50845" y="2909850"/>
                  <a:pt x="30998" y="2890002"/>
                </a:cubicBezTo>
                <a:cubicBezTo>
                  <a:pt x="11150" y="2870154"/>
                  <a:pt x="0" y="2843235"/>
                  <a:pt x="0" y="2815167"/>
                </a:cubicBezTo>
                <a:lnTo>
                  <a:pt x="0" y="105833"/>
                </a:lnTo>
                <a:cubicBezTo>
                  <a:pt x="0" y="77765"/>
                  <a:pt x="11150" y="50845"/>
                  <a:pt x="30998" y="30998"/>
                </a:cubicBezTo>
                <a:cubicBezTo>
                  <a:pt x="50845" y="11150"/>
                  <a:pt x="77765" y="0"/>
                  <a:pt x="105833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1809750" y="2667000"/>
            <a:ext cx="4000500" cy="1333500"/>
          </a:xfrm>
          <a:custGeom>
            <a:rect b="b" l="l" r="r" t="t"/>
            <a:pathLst>
              <a:path extrusionOk="0" h="1778000" w="5334000">
                <a:moveTo>
                  <a:pt x="54429" y="0"/>
                </a:moveTo>
                <a:lnTo>
                  <a:pt x="5279572" y="0"/>
                </a:lnTo>
                <a:cubicBezTo>
                  <a:pt x="5309631" y="0"/>
                  <a:pt x="5334000" y="24369"/>
                  <a:pt x="5334000" y="54429"/>
                </a:cubicBezTo>
                <a:lnTo>
                  <a:pt x="5334000" y="1723571"/>
                </a:lnTo>
                <a:cubicBezTo>
                  <a:pt x="5334000" y="1753632"/>
                  <a:pt x="5309631" y="1778000"/>
                  <a:pt x="5279572" y="1778000"/>
                </a:cubicBezTo>
                <a:lnTo>
                  <a:pt x="54429" y="1778000"/>
                </a:lnTo>
                <a:cubicBezTo>
                  <a:pt x="24369" y="1778000"/>
                  <a:pt x="0" y="1753632"/>
                  <a:pt x="0" y="1723571"/>
                </a:cubicBezTo>
                <a:lnTo>
                  <a:pt x="0" y="54429"/>
                </a:lnTo>
                <a:cubicBezTo>
                  <a:pt x="0" y="24369"/>
                  <a:pt x="24369" y="0"/>
                  <a:pt x="54429" y="0"/>
                </a:cubicBezTo>
                <a:close/>
              </a:path>
            </a:pathLst>
          </a:custGeom>
          <a:solidFill>
            <a:srgbClr val="F7F9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1809750" y="6191250"/>
            <a:ext cx="4000500" cy="1333500"/>
          </a:xfrm>
          <a:custGeom>
            <a:rect b="b" l="l" r="r" t="t"/>
            <a:pathLst>
              <a:path extrusionOk="0" h="1778000" w="5334000">
                <a:moveTo>
                  <a:pt x="54429" y="0"/>
                </a:moveTo>
                <a:lnTo>
                  <a:pt x="5279572" y="0"/>
                </a:lnTo>
                <a:cubicBezTo>
                  <a:pt x="5309631" y="0"/>
                  <a:pt x="5334000" y="24369"/>
                  <a:pt x="5334000" y="54429"/>
                </a:cubicBezTo>
                <a:lnTo>
                  <a:pt x="5334000" y="1723571"/>
                </a:lnTo>
                <a:cubicBezTo>
                  <a:pt x="5334000" y="1753632"/>
                  <a:pt x="5309631" y="1778000"/>
                  <a:pt x="5279572" y="1778000"/>
                </a:cubicBezTo>
                <a:lnTo>
                  <a:pt x="54429" y="1778000"/>
                </a:lnTo>
                <a:cubicBezTo>
                  <a:pt x="24369" y="1778000"/>
                  <a:pt x="0" y="1753632"/>
                  <a:pt x="0" y="1723571"/>
                </a:cubicBezTo>
                <a:lnTo>
                  <a:pt x="0" y="54429"/>
                </a:lnTo>
                <a:cubicBezTo>
                  <a:pt x="0" y="24369"/>
                  <a:pt x="24369" y="0"/>
                  <a:pt x="54429" y="0"/>
                </a:cubicBezTo>
                <a:close/>
              </a:path>
            </a:pathLst>
          </a:custGeom>
          <a:solidFill>
            <a:srgbClr val="F7F9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12477750" y="6191250"/>
            <a:ext cx="4000500" cy="1333500"/>
          </a:xfrm>
          <a:custGeom>
            <a:rect b="b" l="l" r="r" t="t"/>
            <a:pathLst>
              <a:path extrusionOk="0" h="1778000" w="5334000">
                <a:moveTo>
                  <a:pt x="54429" y="0"/>
                </a:moveTo>
                <a:lnTo>
                  <a:pt x="5279572" y="0"/>
                </a:lnTo>
                <a:cubicBezTo>
                  <a:pt x="5309631" y="0"/>
                  <a:pt x="5334000" y="24369"/>
                  <a:pt x="5334000" y="54429"/>
                </a:cubicBezTo>
                <a:lnTo>
                  <a:pt x="5334000" y="1723571"/>
                </a:lnTo>
                <a:cubicBezTo>
                  <a:pt x="5334000" y="1753632"/>
                  <a:pt x="5309631" y="1778000"/>
                  <a:pt x="5279572" y="1778000"/>
                </a:cubicBezTo>
                <a:lnTo>
                  <a:pt x="54429" y="1778000"/>
                </a:lnTo>
                <a:cubicBezTo>
                  <a:pt x="24369" y="1778000"/>
                  <a:pt x="0" y="1753632"/>
                  <a:pt x="0" y="1723571"/>
                </a:cubicBezTo>
                <a:lnTo>
                  <a:pt x="0" y="54429"/>
                </a:lnTo>
                <a:cubicBezTo>
                  <a:pt x="0" y="24369"/>
                  <a:pt x="24369" y="0"/>
                  <a:pt x="54429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12477750" y="2667000"/>
            <a:ext cx="4000500" cy="1333500"/>
          </a:xfrm>
          <a:custGeom>
            <a:rect b="b" l="l" r="r" t="t"/>
            <a:pathLst>
              <a:path extrusionOk="0" h="1778000" w="5334000">
                <a:moveTo>
                  <a:pt x="54429" y="0"/>
                </a:moveTo>
                <a:lnTo>
                  <a:pt x="5279572" y="0"/>
                </a:lnTo>
                <a:cubicBezTo>
                  <a:pt x="5309631" y="0"/>
                  <a:pt x="5334000" y="24369"/>
                  <a:pt x="5334000" y="54429"/>
                </a:cubicBezTo>
                <a:lnTo>
                  <a:pt x="5334000" y="1723571"/>
                </a:lnTo>
                <a:cubicBezTo>
                  <a:pt x="5334000" y="1753632"/>
                  <a:pt x="5309631" y="1778000"/>
                  <a:pt x="5279572" y="1778000"/>
                </a:cubicBezTo>
                <a:lnTo>
                  <a:pt x="54429" y="1778000"/>
                </a:lnTo>
                <a:cubicBezTo>
                  <a:pt x="24369" y="1778000"/>
                  <a:pt x="0" y="1753632"/>
                  <a:pt x="0" y="1723571"/>
                </a:cubicBezTo>
                <a:lnTo>
                  <a:pt x="0" y="54429"/>
                </a:lnTo>
                <a:cubicBezTo>
                  <a:pt x="0" y="24369"/>
                  <a:pt x="24369" y="0"/>
                  <a:pt x="54429" y="0"/>
                </a:cubicBezTo>
                <a:close/>
              </a:path>
            </a:pathLst>
          </a:custGeom>
          <a:solidFill>
            <a:srgbClr val="F7F9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4"/>
          <p:cNvCxnSpPr/>
          <p:nvPr/>
        </p:nvCxnSpPr>
        <p:spPr>
          <a:xfrm>
            <a:off x="5810250" y="3333750"/>
            <a:ext cx="1047750" cy="952500"/>
          </a:xfrm>
          <a:prstGeom prst="straightConnector1">
            <a:avLst/>
          </a:prstGeom>
          <a:noFill/>
          <a:ln cap="rnd" cmpd="sng" w="38100">
            <a:solidFill>
              <a:srgbClr val="22C55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9" name="Google Shape;189;p4"/>
          <p:cNvCxnSpPr/>
          <p:nvPr/>
        </p:nvCxnSpPr>
        <p:spPr>
          <a:xfrm flipH="1" rot="10800000">
            <a:off x="5810250" y="5429250"/>
            <a:ext cx="1047750" cy="1428750"/>
          </a:xfrm>
          <a:prstGeom prst="straightConnector1">
            <a:avLst/>
          </a:prstGeom>
          <a:noFill/>
          <a:ln cap="rnd" cmpd="sng" w="38100">
            <a:solidFill>
              <a:srgbClr val="22C55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0" name="Google Shape;190;p4"/>
          <p:cNvCxnSpPr/>
          <p:nvPr/>
        </p:nvCxnSpPr>
        <p:spPr>
          <a:xfrm rot="10800000">
            <a:off x="11430000" y="5429250"/>
            <a:ext cx="1047750" cy="1428750"/>
          </a:xfrm>
          <a:prstGeom prst="straightConnector1">
            <a:avLst/>
          </a:prstGeom>
          <a:noFill/>
          <a:ln cap="rnd" cmpd="sng" w="38100">
            <a:solidFill>
              <a:srgbClr val="22C55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1" name="Google Shape;191;p4"/>
          <p:cNvCxnSpPr/>
          <p:nvPr/>
        </p:nvCxnSpPr>
        <p:spPr>
          <a:xfrm flipH="1">
            <a:off x="11430000" y="3333750"/>
            <a:ext cx="1047750" cy="952500"/>
          </a:xfrm>
          <a:prstGeom prst="straightConnector1">
            <a:avLst/>
          </a:prstGeom>
          <a:noFill/>
          <a:ln cap="rnd" cmpd="sng" w="38100">
            <a:solidFill>
              <a:srgbClr val="22C55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2" name="Google Shape;192;p4"/>
          <p:cNvSpPr txBox="1"/>
          <p:nvPr/>
        </p:nvSpPr>
        <p:spPr>
          <a:xfrm>
            <a:off x="7334250" y="4248150"/>
            <a:ext cx="3619500" cy="861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BACKTOME</a:t>
            </a:r>
            <a:endParaRPr/>
          </a:p>
          <a:p>
            <a:pPr indent="0" lvl="0" marL="0" marR="0" rtl="0" algn="ctr">
              <a:lnSpc>
                <a:spcPct val="10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SaaS B2B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2047875" y="2952750"/>
            <a:ext cx="3524250" cy="5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INSTITUCIÓN</a:t>
            </a:r>
            <a:endParaRPr/>
          </a:p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Tenant / campus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2047875" y="6505575"/>
            <a:ext cx="3524250" cy="5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PAÑOLERO</a:t>
            </a:r>
            <a:endParaRPr/>
          </a:p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Custodia y actas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12715875" y="6505575"/>
            <a:ext cx="3524250" cy="5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ALUMNO</a:t>
            </a:r>
            <a:endParaRPr/>
          </a:p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App gratuita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12715875" y="2952750"/>
            <a:ext cx="3524250" cy="5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SEDE / FACULTAD</a:t>
            </a:r>
            <a:endParaRPr/>
          </a:p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Segmentación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16764000" y="9744075"/>
            <a:ext cx="666750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03 / 13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Problematica</a:t>
            </a:r>
            <a:endParaRPr/>
          </a:p>
        </p:txBody>
      </p:sp>
      <p:grpSp>
        <p:nvGrpSpPr>
          <p:cNvPr id="203" name="Google Shape;203;p5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204" name="Google Shape;204;p5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05" name="Google Shape;205;p5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5"/>
          <p:cNvGrpSpPr/>
          <p:nvPr/>
        </p:nvGrpSpPr>
        <p:grpSpPr>
          <a:xfrm>
            <a:off x="876300" y="2781300"/>
            <a:ext cx="3762375" cy="2619375"/>
            <a:chOff x="0" y="0"/>
            <a:chExt cx="5016500" cy="3492500"/>
          </a:xfrm>
        </p:grpSpPr>
        <p:sp>
          <p:nvSpPr>
            <p:cNvPr id="207" name="Google Shape;207;p5"/>
            <p:cNvSpPr/>
            <p:nvPr/>
          </p:nvSpPr>
          <p:spPr>
            <a:xfrm>
              <a:off x="0" y="0"/>
              <a:ext cx="5016500" cy="3492500"/>
            </a:xfrm>
            <a:custGeom>
              <a:rect b="b" l="l" r="r" t="t"/>
              <a:pathLst>
                <a:path extrusionOk="0" h="3492500" w="5016500">
                  <a:moveTo>
                    <a:pt x="57873" y="0"/>
                  </a:moveTo>
                  <a:lnTo>
                    <a:pt x="4958626" y="0"/>
                  </a:lnTo>
                  <a:cubicBezTo>
                    <a:pt x="4990589" y="0"/>
                    <a:pt x="5016500" y="25911"/>
                    <a:pt x="5016500" y="57873"/>
                  </a:cubicBezTo>
                  <a:lnTo>
                    <a:pt x="5016500" y="3434626"/>
                  </a:lnTo>
                  <a:cubicBezTo>
                    <a:pt x="5016500" y="3466589"/>
                    <a:pt x="4990589" y="3492500"/>
                    <a:pt x="4958626" y="3492500"/>
                  </a:cubicBezTo>
                  <a:lnTo>
                    <a:pt x="57873" y="3492500"/>
                  </a:lnTo>
                  <a:cubicBezTo>
                    <a:pt x="25911" y="3492500"/>
                    <a:pt x="0" y="3466589"/>
                    <a:pt x="0" y="3434626"/>
                  </a:cubicBezTo>
                  <a:lnTo>
                    <a:pt x="0" y="57873"/>
                  </a:lnTo>
                  <a:cubicBezTo>
                    <a:pt x="0" y="25911"/>
                    <a:pt x="25911" y="0"/>
                    <a:pt x="578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 txBox="1"/>
            <p:nvPr/>
          </p:nvSpPr>
          <p:spPr>
            <a:xfrm>
              <a:off x="355600" y="409575"/>
              <a:ext cx="8890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/>
            </a:p>
          </p:txBody>
        </p:sp>
        <p:sp>
          <p:nvSpPr>
            <p:cNvPr id="209" name="Google Shape;209;p5"/>
            <p:cNvSpPr txBox="1"/>
            <p:nvPr/>
          </p:nvSpPr>
          <p:spPr>
            <a:xfrm>
              <a:off x="355600" y="1282700"/>
              <a:ext cx="4191000" cy="861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Falta de registro</a:t>
              </a:r>
              <a:endParaRPr/>
            </a:p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centralizado</a:t>
              </a:r>
              <a:endParaRPr/>
            </a:p>
          </p:txBody>
        </p:sp>
      </p:grpSp>
      <p:grpSp>
        <p:nvGrpSpPr>
          <p:cNvPr id="210" name="Google Shape;210;p5"/>
          <p:cNvGrpSpPr/>
          <p:nvPr/>
        </p:nvGrpSpPr>
        <p:grpSpPr>
          <a:xfrm>
            <a:off x="5019675" y="2781300"/>
            <a:ext cx="3762375" cy="2619375"/>
            <a:chOff x="0" y="0"/>
            <a:chExt cx="5016500" cy="3492500"/>
          </a:xfrm>
        </p:grpSpPr>
        <p:sp>
          <p:nvSpPr>
            <p:cNvPr id="211" name="Google Shape;211;p5"/>
            <p:cNvSpPr/>
            <p:nvPr/>
          </p:nvSpPr>
          <p:spPr>
            <a:xfrm>
              <a:off x="0" y="0"/>
              <a:ext cx="5016500" cy="3492500"/>
            </a:xfrm>
            <a:custGeom>
              <a:rect b="b" l="l" r="r" t="t"/>
              <a:pathLst>
                <a:path extrusionOk="0" h="3492500" w="5016500">
                  <a:moveTo>
                    <a:pt x="57873" y="0"/>
                  </a:moveTo>
                  <a:lnTo>
                    <a:pt x="4958626" y="0"/>
                  </a:lnTo>
                  <a:cubicBezTo>
                    <a:pt x="4990589" y="0"/>
                    <a:pt x="5016500" y="25911"/>
                    <a:pt x="5016500" y="57873"/>
                  </a:cubicBezTo>
                  <a:lnTo>
                    <a:pt x="5016500" y="3434626"/>
                  </a:lnTo>
                  <a:cubicBezTo>
                    <a:pt x="5016500" y="3466589"/>
                    <a:pt x="4990589" y="3492500"/>
                    <a:pt x="4958626" y="3492500"/>
                  </a:cubicBezTo>
                  <a:lnTo>
                    <a:pt x="57873" y="3492500"/>
                  </a:lnTo>
                  <a:cubicBezTo>
                    <a:pt x="25911" y="3492500"/>
                    <a:pt x="0" y="3466589"/>
                    <a:pt x="0" y="3434626"/>
                  </a:cubicBezTo>
                  <a:lnTo>
                    <a:pt x="0" y="57873"/>
                  </a:lnTo>
                  <a:cubicBezTo>
                    <a:pt x="0" y="25911"/>
                    <a:pt x="25911" y="0"/>
                    <a:pt x="578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 txBox="1"/>
            <p:nvPr/>
          </p:nvSpPr>
          <p:spPr>
            <a:xfrm>
              <a:off x="355600" y="409575"/>
              <a:ext cx="8890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/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355600" y="1282700"/>
              <a:ext cx="4191000" cy="861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Fraude y reclamos</a:t>
              </a:r>
              <a:endParaRPr/>
            </a:p>
            <a:p>
              <a:pPr indent="0" lvl="0" marL="0" marR="0" rtl="0" algn="l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ilícitos</a:t>
              </a:r>
              <a:endParaRPr/>
            </a:p>
          </p:txBody>
        </p:sp>
      </p:grpSp>
      <p:grpSp>
        <p:nvGrpSpPr>
          <p:cNvPr id="214" name="Google Shape;214;p5"/>
          <p:cNvGrpSpPr/>
          <p:nvPr/>
        </p:nvGrpSpPr>
        <p:grpSpPr>
          <a:xfrm>
            <a:off x="9163050" y="2781300"/>
            <a:ext cx="3762375" cy="2619375"/>
            <a:chOff x="0" y="0"/>
            <a:chExt cx="5016500" cy="3492500"/>
          </a:xfrm>
        </p:grpSpPr>
        <p:sp>
          <p:nvSpPr>
            <p:cNvPr id="215" name="Google Shape;215;p5"/>
            <p:cNvSpPr/>
            <p:nvPr/>
          </p:nvSpPr>
          <p:spPr>
            <a:xfrm>
              <a:off x="0" y="0"/>
              <a:ext cx="5016500" cy="3492500"/>
            </a:xfrm>
            <a:custGeom>
              <a:rect b="b" l="l" r="r" t="t"/>
              <a:pathLst>
                <a:path extrusionOk="0" h="3492500" w="5016500">
                  <a:moveTo>
                    <a:pt x="57873" y="0"/>
                  </a:moveTo>
                  <a:lnTo>
                    <a:pt x="4958626" y="0"/>
                  </a:lnTo>
                  <a:cubicBezTo>
                    <a:pt x="4990589" y="0"/>
                    <a:pt x="5016500" y="25911"/>
                    <a:pt x="5016500" y="57873"/>
                  </a:cubicBezTo>
                  <a:lnTo>
                    <a:pt x="5016500" y="3434626"/>
                  </a:lnTo>
                  <a:cubicBezTo>
                    <a:pt x="5016500" y="3466589"/>
                    <a:pt x="4990589" y="3492500"/>
                    <a:pt x="4958626" y="3492500"/>
                  </a:cubicBezTo>
                  <a:lnTo>
                    <a:pt x="57873" y="3492500"/>
                  </a:lnTo>
                  <a:cubicBezTo>
                    <a:pt x="25911" y="3492500"/>
                    <a:pt x="0" y="3466589"/>
                    <a:pt x="0" y="3434626"/>
                  </a:cubicBezTo>
                  <a:lnTo>
                    <a:pt x="0" y="57873"/>
                  </a:lnTo>
                  <a:cubicBezTo>
                    <a:pt x="0" y="25911"/>
                    <a:pt x="25911" y="0"/>
                    <a:pt x="578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355600" y="409575"/>
              <a:ext cx="8890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/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355600" y="1273175"/>
              <a:ext cx="4191000" cy="8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Exposición de</a:t>
              </a:r>
              <a:endParaRPr/>
            </a:p>
            <a:p>
              <a:pPr indent="0" lvl="0" marL="0" marR="0" rtl="0" algn="l">
                <a:lnSpc>
                  <a:spcPct val="10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información privada</a:t>
              </a:r>
              <a:endParaRPr/>
            </a:p>
          </p:txBody>
        </p:sp>
      </p:grpSp>
      <p:grpSp>
        <p:nvGrpSpPr>
          <p:cNvPr id="218" name="Google Shape;218;p5"/>
          <p:cNvGrpSpPr/>
          <p:nvPr/>
        </p:nvGrpSpPr>
        <p:grpSpPr>
          <a:xfrm>
            <a:off x="13306425" y="2781300"/>
            <a:ext cx="3762375" cy="2619375"/>
            <a:chOff x="0" y="0"/>
            <a:chExt cx="5016500" cy="3492500"/>
          </a:xfrm>
        </p:grpSpPr>
        <p:sp>
          <p:nvSpPr>
            <p:cNvPr id="219" name="Google Shape;219;p5"/>
            <p:cNvSpPr/>
            <p:nvPr/>
          </p:nvSpPr>
          <p:spPr>
            <a:xfrm>
              <a:off x="0" y="0"/>
              <a:ext cx="5016500" cy="3492500"/>
            </a:xfrm>
            <a:custGeom>
              <a:rect b="b" l="l" r="r" t="t"/>
              <a:pathLst>
                <a:path extrusionOk="0" h="3492500" w="5016500">
                  <a:moveTo>
                    <a:pt x="57873" y="0"/>
                  </a:moveTo>
                  <a:lnTo>
                    <a:pt x="4958626" y="0"/>
                  </a:lnTo>
                  <a:cubicBezTo>
                    <a:pt x="4990589" y="0"/>
                    <a:pt x="5016500" y="25911"/>
                    <a:pt x="5016500" y="57873"/>
                  </a:cubicBezTo>
                  <a:lnTo>
                    <a:pt x="5016500" y="3434626"/>
                  </a:lnTo>
                  <a:cubicBezTo>
                    <a:pt x="5016500" y="3466589"/>
                    <a:pt x="4990589" y="3492500"/>
                    <a:pt x="4958626" y="3492500"/>
                  </a:cubicBezTo>
                  <a:lnTo>
                    <a:pt x="57873" y="3492500"/>
                  </a:lnTo>
                  <a:cubicBezTo>
                    <a:pt x="25911" y="3492500"/>
                    <a:pt x="0" y="3466589"/>
                    <a:pt x="0" y="3434626"/>
                  </a:cubicBezTo>
                  <a:lnTo>
                    <a:pt x="0" y="57873"/>
                  </a:lnTo>
                  <a:cubicBezTo>
                    <a:pt x="0" y="25911"/>
                    <a:pt x="25911" y="0"/>
                    <a:pt x="578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 txBox="1"/>
            <p:nvPr/>
          </p:nvSpPr>
          <p:spPr>
            <a:xfrm>
              <a:off x="355600" y="409575"/>
              <a:ext cx="889000" cy="349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/>
            </a:p>
          </p:txBody>
        </p:sp>
        <p:sp>
          <p:nvSpPr>
            <p:cNvPr id="221" name="Google Shape;221;p5"/>
            <p:cNvSpPr txBox="1"/>
            <p:nvPr/>
          </p:nvSpPr>
          <p:spPr>
            <a:xfrm>
              <a:off x="355600" y="1273175"/>
              <a:ext cx="4191000" cy="8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Cadena de custodia</a:t>
              </a:r>
              <a:endParaRPr/>
            </a:p>
            <a:p>
              <a:pPr indent="0" lvl="0" marL="0" marR="0" rtl="0" algn="l">
                <a:lnSpc>
                  <a:spcPct val="104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25" u="none" cap="none" strike="noStrike">
                  <a:solidFill>
                    <a:srgbClr val="1721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interrumpida</a:t>
              </a:r>
              <a:endParaRPr/>
            </a:p>
          </p:txBody>
        </p:sp>
      </p:grpSp>
      <p:sp>
        <p:nvSpPr>
          <p:cNvPr id="222" name="Google Shape;222;p5"/>
          <p:cNvSpPr/>
          <p:nvPr/>
        </p:nvSpPr>
        <p:spPr>
          <a:xfrm>
            <a:off x="876300" y="6096000"/>
            <a:ext cx="7239000" cy="2381250"/>
          </a:xfrm>
          <a:custGeom>
            <a:rect b="b" l="l" r="r" t="t"/>
            <a:pathLst>
              <a:path extrusionOk="0" h="3175000" w="9652000">
                <a:moveTo>
                  <a:pt x="30079" y="0"/>
                </a:moveTo>
                <a:lnTo>
                  <a:pt x="9621921" y="0"/>
                </a:lnTo>
                <a:cubicBezTo>
                  <a:pt x="9629898" y="0"/>
                  <a:pt x="9637549" y="3169"/>
                  <a:pt x="9643190" y="8810"/>
                </a:cubicBezTo>
                <a:cubicBezTo>
                  <a:pt x="9648831" y="14451"/>
                  <a:pt x="9652000" y="22102"/>
                  <a:pt x="9652000" y="30079"/>
                </a:cubicBezTo>
                <a:lnTo>
                  <a:pt x="9652000" y="3144921"/>
                </a:lnTo>
                <a:cubicBezTo>
                  <a:pt x="9652000" y="3152898"/>
                  <a:pt x="9648831" y="3160549"/>
                  <a:pt x="9643190" y="3166190"/>
                </a:cubicBezTo>
                <a:cubicBezTo>
                  <a:pt x="9637549" y="3171831"/>
                  <a:pt x="9629898" y="3175000"/>
                  <a:pt x="9621921" y="3175000"/>
                </a:cubicBezTo>
                <a:lnTo>
                  <a:pt x="30079" y="3175000"/>
                </a:lnTo>
                <a:cubicBezTo>
                  <a:pt x="22102" y="3175000"/>
                  <a:pt x="14451" y="3171831"/>
                  <a:pt x="8810" y="3166190"/>
                </a:cubicBezTo>
                <a:cubicBezTo>
                  <a:pt x="3169" y="3160549"/>
                  <a:pt x="0" y="3152898"/>
                  <a:pt x="0" y="3144921"/>
                </a:cubicBezTo>
                <a:lnTo>
                  <a:pt x="0" y="30079"/>
                </a:lnTo>
                <a:cubicBezTo>
                  <a:pt x="0" y="22102"/>
                  <a:pt x="3169" y="14451"/>
                  <a:pt x="8810" y="8810"/>
                </a:cubicBezTo>
                <a:cubicBezTo>
                  <a:pt x="14451" y="3169"/>
                  <a:pt x="22102" y="0"/>
                  <a:pt x="30079" y="0"/>
                </a:cubicBezTo>
                <a:close/>
              </a:path>
            </a:pathLst>
          </a:custGeom>
          <a:solidFill>
            <a:srgbClr val="163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8763000" y="6096000"/>
            <a:ext cx="8648700" cy="2381250"/>
          </a:xfrm>
          <a:custGeom>
            <a:rect b="b" l="l" r="r" t="t"/>
            <a:pathLst>
              <a:path extrusionOk="0" h="3175000" w="11531600">
                <a:moveTo>
                  <a:pt x="25176" y="0"/>
                </a:moveTo>
                <a:lnTo>
                  <a:pt x="11506424" y="0"/>
                </a:lnTo>
                <a:cubicBezTo>
                  <a:pt x="11513101" y="0"/>
                  <a:pt x="11519505" y="2652"/>
                  <a:pt x="11524226" y="7374"/>
                </a:cubicBezTo>
                <a:cubicBezTo>
                  <a:pt x="11528947" y="12095"/>
                  <a:pt x="11531600" y="18499"/>
                  <a:pt x="11531600" y="25176"/>
                </a:cubicBezTo>
                <a:lnTo>
                  <a:pt x="11531600" y="3149824"/>
                </a:lnTo>
                <a:cubicBezTo>
                  <a:pt x="11531600" y="3156501"/>
                  <a:pt x="11528947" y="3162905"/>
                  <a:pt x="11524226" y="3167626"/>
                </a:cubicBezTo>
                <a:cubicBezTo>
                  <a:pt x="11519505" y="3172347"/>
                  <a:pt x="11513101" y="3175000"/>
                  <a:pt x="11506424" y="3175000"/>
                </a:cubicBezTo>
                <a:lnTo>
                  <a:pt x="25176" y="3175000"/>
                </a:lnTo>
                <a:cubicBezTo>
                  <a:pt x="18499" y="3175000"/>
                  <a:pt x="12095" y="3172347"/>
                  <a:pt x="7374" y="3167626"/>
                </a:cubicBezTo>
                <a:cubicBezTo>
                  <a:pt x="2652" y="3162905"/>
                  <a:pt x="0" y="3156501"/>
                  <a:pt x="0" y="3149824"/>
                </a:cubicBezTo>
                <a:lnTo>
                  <a:pt x="0" y="25176"/>
                </a:lnTo>
                <a:cubicBezTo>
                  <a:pt x="0" y="18499"/>
                  <a:pt x="2652" y="12095"/>
                  <a:pt x="7374" y="7374"/>
                </a:cubicBezTo>
                <a:cubicBezTo>
                  <a:pt x="12095" y="2652"/>
                  <a:pt x="18499" y="0"/>
                  <a:pt x="25176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1143000" y="6429375"/>
            <a:ext cx="4476750" cy="95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0" u="none" cap="none" strike="noStrike">
                <a:solidFill>
                  <a:srgbClr val="4ADE80"/>
                </a:solidFill>
                <a:latin typeface="Montserrat"/>
                <a:ea typeface="Montserrat"/>
                <a:cs typeface="Montserrat"/>
                <a:sym typeface="Montserrat"/>
              </a:rPr>
              <a:t>+7.000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1238250" y="7296150"/>
            <a:ext cx="4762500" cy="3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objetos perdidos al año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9715500" y="657225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LEY Nº 19.628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9715500" y="7210425"/>
            <a:ext cx="6191250" cy="378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Protección de la Vida Privada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16764000" y="9744075"/>
            <a:ext cx="666750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04 / 13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Solución</a:t>
            </a:r>
            <a:endParaRPr/>
          </a:p>
        </p:txBody>
      </p:sp>
      <p:grpSp>
        <p:nvGrpSpPr>
          <p:cNvPr id="234" name="Google Shape;234;p6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36" name="Google Shape;236;p6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6"/>
          <p:cNvGrpSpPr/>
          <p:nvPr/>
        </p:nvGrpSpPr>
        <p:grpSpPr>
          <a:xfrm>
            <a:off x="876300" y="2647950"/>
            <a:ext cx="5143500" cy="3143250"/>
            <a:chOff x="0" y="0"/>
            <a:chExt cx="6858000" cy="4191000"/>
          </a:xfrm>
        </p:grpSpPr>
        <p:sp>
          <p:nvSpPr>
            <p:cNvPr id="238" name="Google Shape;238;p6"/>
            <p:cNvSpPr/>
            <p:nvPr/>
          </p:nvSpPr>
          <p:spPr>
            <a:xfrm>
              <a:off x="0" y="0"/>
              <a:ext cx="6858000" cy="4191000"/>
            </a:xfrm>
            <a:custGeom>
              <a:rect b="b" l="l" r="r" t="t"/>
              <a:pathLst>
                <a:path extrusionOk="0" h="4191000" w="6858000">
                  <a:moveTo>
                    <a:pt x="42333" y="0"/>
                  </a:moveTo>
                  <a:lnTo>
                    <a:pt x="6815667" y="0"/>
                  </a:lnTo>
                  <a:cubicBezTo>
                    <a:pt x="6826894" y="0"/>
                    <a:pt x="6837662" y="4460"/>
                    <a:pt x="6845601" y="12399"/>
                  </a:cubicBezTo>
                  <a:cubicBezTo>
                    <a:pt x="6853540" y="20338"/>
                    <a:pt x="6858000" y="31106"/>
                    <a:pt x="6858000" y="42333"/>
                  </a:cubicBezTo>
                  <a:lnTo>
                    <a:pt x="6858000" y="4148667"/>
                  </a:lnTo>
                  <a:cubicBezTo>
                    <a:pt x="6858000" y="4159894"/>
                    <a:pt x="6853540" y="4170662"/>
                    <a:pt x="6845601" y="4178601"/>
                  </a:cubicBezTo>
                  <a:cubicBezTo>
                    <a:pt x="6837662" y="4186540"/>
                    <a:pt x="6826894" y="4191000"/>
                    <a:pt x="6815667" y="4191000"/>
                  </a:cubicBezTo>
                  <a:lnTo>
                    <a:pt x="42333" y="4191000"/>
                  </a:lnTo>
                  <a:cubicBezTo>
                    <a:pt x="31106" y="4191000"/>
                    <a:pt x="20338" y="4186540"/>
                    <a:pt x="12399" y="4178601"/>
                  </a:cubicBezTo>
                  <a:cubicBezTo>
                    <a:pt x="4460" y="4170662"/>
                    <a:pt x="0" y="4159894"/>
                    <a:pt x="0" y="4148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7F9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 txBox="1"/>
            <p:nvPr/>
          </p:nvSpPr>
          <p:spPr>
            <a:xfrm>
              <a:off x="444500" y="444500"/>
              <a:ext cx="5969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22C55E"/>
                  </a:solidFill>
                  <a:latin typeface="DM Sans"/>
                  <a:ea typeface="DM Sans"/>
                  <a:cs typeface="DM Sans"/>
                  <a:sym typeface="DM Sans"/>
                </a:rPr>
                <a:t>TRAZABILIDAD FÍSICA</a:t>
              </a:r>
              <a:endParaRPr/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444500" y="1282700"/>
              <a:ext cx="5969000" cy="973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4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7211C"/>
                  </a:solidFill>
                  <a:latin typeface="DM Sans"/>
                  <a:ea typeface="DM Sans"/>
                  <a:cs typeface="DM Sans"/>
                  <a:sym typeface="DM Sans"/>
                </a:rPr>
                <a:t>QR opcional conecta el objeto con cada cambio de custodia.</a:t>
              </a:r>
              <a:endParaRPr/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6400800" y="2647950"/>
            <a:ext cx="5143500" cy="3143250"/>
            <a:chOff x="0" y="0"/>
            <a:chExt cx="6858000" cy="4191000"/>
          </a:xfrm>
        </p:grpSpPr>
        <p:sp>
          <p:nvSpPr>
            <p:cNvPr id="242" name="Google Shape;242;p6"/>
            <p:cNvSpPr/>
            <p:nvPr/>
          </p:nvSpPr>
          <p:spPr>
            <a:xfrm>
              <a:off x="0" y="0"/>
              <a:ext cx="6858000" cy="4191000"/>
            </a:xfrm>
            <a:custGeom>
              <a:rect b="b" l="l" r="r" t="t"/>
              <a:pathLst>
                <a:path extrusionOk="0" h="4191000" w="6858000">
                  <a:moveTo>
                    <a:pt x="42333" y="0"/>
                  </a:moveTo>
                  <a:lnTo>
                    <a:pt x="6815667" y="0"/>
                  </a:lnTo>
                  <a:cubicBezTo>
                    <a:pt x="6826894" y="0"/>
                    <a:pt x="6837662" y="4460"/>
                    <a:pt x="6845601" y="12399"/>
                  </a:cubicBezTo>
                  <a:cubicBezTo>
                    <a:pt x="6853540" y="20338"/>
                    <a:pt x="6858000" y="31106"/>
                    <a:pt x="6858000" y="42333"/>
                  </a:cubicBezTo>
                  <a:lnTo>
                    <a:pt x="6858000" y="4148667"/>
                  </a:lnTo>
                  <a:cubicBezTo>
                    <a:pt x="6858000" y="4159894"/>
                    <a:pt x="6853540" y="4170662"/>
                    <a:pt x="6845601" y="4178601"/>
                  </a:cubicBezTo>
                  <a:cubicBezTo>
                    <a:pt x="6837662" y="4186540"/>
                    <a:pt x="6826894" y="4191000"/>
                    <a:pt x="6815667" y="4191000"/>
                  </a:cubicBezTo>
                  <a:lnTo>
                    <a:pt x="42333" y="4191000"/>
                  </a:lnTo>
                  <a:cubicBezTo>
                    <a:pt x="31106" y="4191000"/>
                    <a:pt x="20338" y="4186540"/>
                    <a:pt x="12399" y="4178601"/>
                  </a:cubicBezTo>
                  <a:cubicBezTo>
                    <a:pt x="4460" y="4170662"/>
                    <a:pt x="0" y="4159894"/>
                    <a:pt x="0" y="4148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DCFC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6"/>
            <p:cNvSpPr txBox="1"/>
            <p:nvPr/>
          </p:nvSpPr>
          <p:spPr>
            <a:xfrm>
              <a:off x="444500" y="444500"/>
              <a:ext cx="5969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FF6B4A"/>
                  </a:solidFill>
                  <a:latin typeface="DM Sans"/>
                  <a:ea typeface="DM Sans"/>
                  <a:cs typeface="DM Sans"/>
                  <a:sym typeface="DM Sans"/>
                </a:rPr>
                <a:t>PRIVACIDAD</a:t>
              </a:r>
              <a:endParaRPr/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444500" y="1282700"/>
              <a:ext cx="5969000" cy="973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4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7211C"/>
                  </a:solidFill>
                  <a:latin typeface="DM Sans"/>
                  <a:ea typeface="DM Sans"/>
                  <a:cs typeface="DM Sans"/>
                  <a:sym typeface="DM Sans"/>
                </a:rPr>
                <a:t>Catálogo anonimizado y protocolo ciego con preguntas desempate.</a:t>
              </a:r>
              <a:endParaRPr/>
            </a:p>
          </p:txBody>
        </p:sp>
      </p:grpSp>
      <p:grpSp>
        <p:nvGrpSpPr>
          <p:cNvPr id="245" name="Google Shape;245;p6"/>
          <p:cNvGrpSpPr/>
          <p:nvPr/>
        </p:nvGrpSpPr>
        <p:grpSpPr>
          <a:xfrm>
            <a:off x="11925300" y="2647950"/>
            <a:ext cx="5143500" cy="3143250"/>
            <a:chOff x="0" y="0"/>
            <a:chExt cx="6858000" cy="4191000"/>
          </a:xfrm>
        </p:grpSpPr>
        <p:sp>
          <p:nvSpPr>
            <p:cNvPr id="246" name="Google Shape;246;p6"/>
            <p:cNvSpPr/>
            <p:nvPr/>
          </p:nvSpPr>
          <p:spPr>
            <a:xfrm>
              <a:off x="0" y="0"/>
              <a:ext cx="6858000" cy="4191000"/>
            </a:xfrm>
            <a:custGeom>
              <a:rect b="b" l="l" r="r" t="t"/>
              <a:pathLst>
                <a:path extrusionOk="0" h="4191000" w="6858000">
                  <a:moveTo>
                    <a:pt x="42333" y="0"/>
                  </a:moveTo>
                  <a:lnTo>
                    <a:pt x="6815667" y="0"/>
                  </a:lnTo>
                  <a:cubicBezTo>
                    <a:pt x="6826894" y="0"/>
                    <a:pt x="6837662" y="4460"/>
                    <a:pt x="6845601" y="12399"/>
                  </a:cubicBezTo>
                  <a:cubicBezTo>
                    <a:pt x="6853540" y="20338"/>
                    <a:pt x="6858000" y="31106"/>
                    <a:pt x="6858000" y="42333"/>
                  </a:cubicBezTo>
                  <a:lnTo>
                    <a:pt x="6858000" y="4148667"/>
                  </a:lnTo>
                  <a:cubicBezTo>
                    <a:pt x="6858000" y="4159894"/>
                    <a:pt x="6853540" y="4170662"/>
                    <a:pt x="6845601" y="4178601"/>
                  </a:cubicBezTo>
                  <a:cubicBezTo>
                    <a:pt x="6837662" y="4186540"/>
                    <a:pt x="6826894" y="4191000"/>
                    <a:pt x="6815667" y="4191000"/>
                  </a:cubicBezTo>
                  <a:lnTo>
                    <a:pt x="42333" y="4191000"/>
                  </a:lnTo>
                  <a:cubicBezTo>
                    <a:pt x="31106" y="4191000"/>
                    <a:pt x="20338" y="4186540"/>
                    <a:pt x="12399" y="4178601"/>
                  </a:cubicBezTo>
                  <a:cubicBezTo>
                    <a:pt x="4460" y="4170662"/>
                    <a:pt x="0" y="4159894"/>
                    <a:pt x="0" y="4148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7F9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6"/>
            <p:cNvSpPr txBox="1"/>
            <p:nvPr/>
          </p:nvSpPr>
          <p:spPr>
            <a:xfrm>
              <a:off x="444500" y="444500"/>
              <a:ext cx="5969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5" u="none" cap="none" strike="noStrike">
                  <a:solidFill>
                    <a:srgbClr val="22C55E"/>
                  </a:solidFill>
                  <a:latin typeface="DM Sans"/>
                  <a:ea typeface="DM Sans"/>
                  <a:cs typeface="DM Sans"/>
                  <a:sym typeface="DM Sans"/>
                </a:rPr>
                <a:t>COMUNIDAD</a:t>
              </a:r>
              <a:endParaRPr/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444500" y="1282700"/>
              <a:ext cx="5969000" cy="973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4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7211C"/>
                  </a:solidFill>
                  <a:latin typeface="DM Sans"/>
                  <a:ea typeface="DM Sans"/>
                  <a:cs typeface="DM Sans"/>
                  <a:sym typeface="DM Sans"/>
                </a:rPr>
                <a:t>Actas inmutables, denuncias y búsqueda por filtros.</a:t>
              </a:r>
              <a:endParaRPr/>
            </a:p>
          </p:txBody>
        </p:sp>
      </p:grpSp>
      <p:sp>
        <p:nvSpPr>
          <p:cNvPr id="249" name="Google Shape;249;p6"/>
          <p:cNvSpPr/>
          <p:nvPr/>
        </p:nvSpPr>
        <p:spPr>
          <a:xfrm>
            <a:off x="1619250" y="7162800"/>
            <a:ext cx="2571750" cy="895350"/>
          </a:xfrm>
          <a:custGeom>
            <a:rect b="b" l="l" r="r" t="t"/>
            <a:pathLst>
              <a:path extrusionOk="0" h="1193800" w="3429000">
                <a:moveTo>
                  <a:pt x="221074" y="0"/>
                </a:moveTo>
                <a:lnTo>
                  <a:pt x="3207926" y="0"/>
                </a:lnTo>
                <a:cubicBezTo>
                  <a:pt x="3330022" y="0"/>
                  <a:pt x="3429000" y="98978"/>
                  <a:pt x="3429000" y="221074"/>
                </a:cubicBezTo>
                <a:lnTo>
                  <a:pt x="3429000" y="972726"/>
                </a:lnTo>
                <a:cubicBezTo>
                  <a:pt x="3429000" y="1094822"/>
                  <a:pt x="3330022" y="1193800"/>
                  <a:pt x="3207926" y="1193800"/>
                </a:cubicBezTo>
                <a:lnTo>
                  <a:pt x="221074" y="1193800"/>
                </a:lnTo>
                <a:cubicBezTo>
                  <a:pt x="98978" y="1193800"/>
                  <a:pt x="0" y="1094822"/>
                  <a:pt x="0" y="972726"/>
                </a:cubicBezTo>
                <a:lnTo>
                  <a:pt x="0" y="221074"/>
                </a:lnTo>
                <a:cubicBezTo>
                  <a:pt x="0" y="98978"/>
                  <a:pt x="98978" y="0"/>
                  <a:pt x="22107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1619250" y="7458075"/>
            <a:ext cx="2571750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Reportar</a:t>
            </a:r>
            <a:endParaRPr/>
          </a:p>
        </p:txBody>
      </p:sp>
      <p:cxnSp>
        <p:nvCxnSpPr>
          <p:cNvPr id="251" name="Google Shape;251;p6"/>
          <p:cNvCxnSpPr/>
          <p:nvPr/>
        </p:nvCxnSpPr>
        <p:spPr>
          <a:xfrm>
            <a:off x="4333875" y="7610475"/>
            <a:ext cx="1047750" cy="0"/>
          </a:xfrm>
          <a:prstGeom prst="straightConnector1">
            <a:avLst/>
          </a:prstGeom>
          <a:noFill/>
          <a:ln cap="rnd" cmpd="sng" w="38100">
            <a:solidFill>
              <a:srgbClr val="22C55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2" name="Google Shape;252;p6"/>
          <p:cNvSpPr/>
          <p:nvPr/>
        </p:nvSpPr>
        <p:spPr>
          <a:xfrm>
            <a:off x="5619750" y="7162800"/>
            <a:ext cx="2571750" cy="895350"/>
          </a:xfrm>
          <a:custGeom>
            <a:rect b="b" l="l" r="r" t="t"/>
            <a:pathLst>
              <a:path extrusionOk="0" h="1193800" w="3429000">
                <a:moveTo>
                  <a:pt x="221074" y="0"/>
                </a:moveTo>
                <a:lnTo>
                  <a:pt x="3207926" y="0"/>
                </a:lnTo>
                <a:cubicBezTo>
                  <a:pt x="3330022" y="0"/>
                  <a:pt x="3429000" y="98978"/>
                  <a:pt x="3429000" y="221074"/>
                </a:cubicBezTo>
                <a:lnTo>
                  <a:pt x="3429000" y="972726"/>
                </a:lnTo>
                <a:cubicBezTo>
                  <a:pt x="3429000" y="1094822"/>
                  <a:pt x="3330022" y="1193800"/>
                  <a:pt x="3207926" y="1193800"/>
                </a:cubicBezTo>
                <a:lnTo>
                  <a:pt x="221074" y="1193800"/>
                </a:lnTo>
                <a:cubicBezTo>
                  <a:pt x="98978" y="1193800"/>
                  <a:pt x="0" y="1094822"/>
                  <a:pt x="0" y="972726"/>
                </a:cubicBezTo>
                <a:lnTo>
                  <a:pt x="0" y="221074"/>
                </a:lnTo>
                <a:cubicBezTo>
                  <a:pt x="0" y="98978"/>
                  <a:pt x="98978" y="0"/>
                  <a:pt x="22107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5619750" y="7458075"/>
            <a:ext cx="2571750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Encontrar</a:t>
            </a:r>
            <a:endParaRPr/>
          </a:p>
        </p:txBody>
      </p:sp>
      <p:cxnSp>
        <p:nvCxnSpPr>
          <p:cNvPr id="254" name="Google Shape;254;p6"/>
          <p:cNvCxnSpPr/>
          <p:nvPr/>
        </p:nvCxnSpPr>
        <p:spPr>
          <a:xfrm>
            <a:off x="8334375" y="7610475"/>
            <a:ext cx="1047750" cy="0"/>
          </a:xfrm>
          <a:prstGeom prst="straightConnector1">
            <a:avLst/>
          </a:prstGeom>
          <a:noFill/>
          <a:ln cap="rnd" cmpd="sng" w="38100">
            <a:solidFill>
              <a:srgbClr val="22C55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5" name="Google Shape;255;p6"/>
          <p:cNvSpPr/>
          <p:nvPr/>
        </p:nvSpPr>
        <p:spPr>
          <a:xfrm>
            <a:off x="9620250" y="7162800"/>
            <a:ext cx="2571750" cy="895350"/>
          </a:xfrm>
          <a:custGeom>
            <a:rect b="b" l="l" r="r" t="t"/>
            <a:pathLst>
              <a:path extrusionOk="0" h="1193800" w="3429000">
                <a:moveTo>
                  <a:pt x="221074" y="0"/>
                </a:moveTo>
                <a:lnTo>
                  <a:pt x="3207926" y="0"/>
                </a:lnTo>
                <a:cubicBezTo>
                  <a:pt x="3330022" y="0"/>
                  <a:pt x="3429000" y="98978"/>
                  <a:pt x="3429000" y="221074"/>
                </a:cubicBezTo>
                <a:lnTo>
                  <a:pt x="3429000" y="972726"/>
                </a:lnTo>
                <a:cubicBezTo>
                  <a:pt x="3429000" y="1094822"/>
                  <a:pt x="3330022" y="1193800"/>
                  <a:pt x="3207926" y="1193800"/>
                </a:cubicBezTo>
                <a:lnTo>
                  <a:pt x="221074" y="1193800"/>
                </a:lnTo>
                <a:cubicBezTo>
                  <a:pt x="98978" y="1193800"/>
                  <a:pt x="0" y="1094822"/>
                  <a:pt x="0" y="972726"/>
                </a:cubicBezTo>
                <a:lnTo>
                  <a:pt x="0" y="221074"/>
                </a:lnTo>
                <a:cubicBezTo>
                  <a:pt x="0" y="98978"/>
                  <a:pt x="98978" y="0"/>
                  <a:pt x="22107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9620250" y="7458075"/>
            <a:ext cx="2571750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Validar</a:t>
            </a:r>
            <a:endParaRPr/>
          </a:p>
        </p:txBody>
      </p:sp>
      <p:cxnSp>
        <p:nvCxnSpPr>
          <p:cNvPr id="257" name="Google Shape;257;p6"/>
          <p:cNvCxnSpPr/>
          <p:nvPr/>
        </p:nvCxnSpPr>
        <p:spPr>
          <a:xfrm>
            <a:off x="12334875" y="7610475"/>
            <a:ext cx="1047750" cy="0"/>
          </a:xfrm>
          <a:prstGeom prst="straightConnector1">
            <a:avLst/>
          </a:prstGeom>
          <a:noFill/>
          <a:ln cap="rnd" cmpd="sng" w="38100">
            <a:solidFill>
              <a:srgbClr val="22C55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8" name="Google Shape;258;p6"/>
          <p:cNvSpPr/>
          <p:nvPr/>
        </p:nvSpPr>
        <p:spPr>
          <a:xfrm>
            <a:off x="13620750" y="7162800"/>
            <a:ext cx="2571750" cy="895350"/>
          </a:xfrm>
          <a:custGeom>
            <a:rect b="b" l="l" r="r" t="t"/>
            <a:pathLst>
              <a:path extrusionOk="0" h="1193800" w="3429000">
                <a:moveTo>
                  <a:pt x="221074" y="0"/>
                </a:moveTo>
                <a:lnTo>
                  <a:pt x="3207926" y="0"/>
                </a:lnTo>
                <a:cubicBezTo>
                  <a:pt x="3330022" y="0"/>
                  <a:pt x="3429000" y="98978"/>
                  <a:pt x="3429000" y="221074"/>
                </a:cubicBezTo>
                <a:lnTo>
                  <a:pt x="3429000" y="972726"/>
                </a:lnTo>
                <a:cubicBezTo>
                  <a:pt x="3429000" y="1094822"/>
                  <a:pt x="3330022" y="1193800"/>
                  <a:pt x="3207926" y="1193800"/>
                </a:cubicBezTo>
                <a:lnTo>
                  <a:pt x="221074" y="1193800"/>
                </a:lnTo>
                <a:cubicBezTo>
                  <a:pt x="98978" y="1193800"/>
                  <a:pt x="0" y="1094822"/>
                  <a:pt x="0" y="972726"/>
                </a:cubicBezTo>
                <a:lnTo>
                  <a:pt x="0" y="221074"/>
                </a:lnTo>
                <a:cubicBezTo>
                  <a:pt x="0" y="98978"/>
                  <a:pt x="98978" y="0"/>
                  <a:pt x="221074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13620750" y="7458075"/>
            <a:ext cx="2571750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Restituir</a:t>
            </a:r>
            <a:endParaRPr/>
          </a:p>
        </p:txBody>
      </p:sp>
      <p:sp>
        <p:nvSpPr>
          <p:cNvPr id="260" name="Google Shape;260;p6"/>
          <p:cNvSpPr txBox="1"/>
          <p:nvPr/>
        </p:nvSpPr>
        <p:spPr>
          <a:xfrm>
            <a:off x="16764000" y="9744075"/>
            <a:ext cx="666750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05 / 13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Metodología · Plan· Roles</a:t>
            </a:r>
            <a:endParaRPr/>
          </a:p>
        </p:txBody>
      </p:sp>
      <p:grpSp>
        <p:nvGrpSpPr>
          <p:cNvPr id="266" name="Google Shape;266;p7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267" name="Google Shape;267;p7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68" name="Google Shape;268;p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7"/>
          <p:cNvSpPr/>
          <p:nvPr/>
        </p:nvSpPr>
        <p:spPr>
          <a:xfrm>
            <a:off x="590550" y="2190750"/>
            <a:ext cx="8001000" cy="3143250"/>
          </a:xfrm>
          <a:custGeom>
            <a:rect b="b" l="l" r="r" t="t"/>
            <a:pathLst>
              <a:path extrusionOk="0" h="4191000" w="10668000">
                <a:moveTo>
                  <a:pt x="27214" y="0"/>
                </a:moveTo>
                <a:lnTo>
                  <a:pt x="10640785" y="0"/>
                </a:lnTo>
                <a:cubicBezTo>
                  <a:pt x="10648004" y="0"/>
                  <a:pt x="10654926" y="2867"/>
                  <a:pt x="10660029" y="7971"/>
                </a:cubicBezTo>
                <a:cubicBezTo>
                  <a:pt x="10665133" y="13075"/>
                  <a:pt x="10668000" y="19997"/>
                  <a:pt x="10668000" y="27214"/>
                </a:cubicBezTo>
                <a:lnTo>
                  <a:pt x="10668000" y="4163786"/>
                </a:lnTo>
                <a:cubicBezTo>
                  <a:pt x="10668000" y="4171004"/>
                  <a:pt x="10665133" y="4177926"/>
                  <a:pt x="10660029" y="4183029"/>
                </a:cubicBezTo>
                <a:cubicBezTo>
                  <a:pt x="10654926" y="4188133"/>
                  <a:pt x="10648004" y="4191000"/>
                  <a:pt x="10640785" y="4191000"/>
                </a:cubicBezTo>
                <a:lnTo>
                  <a:pt x="27214" y="4191000"/>
                </a:lnTo>
                <a:cubicBezTo>
                  <a:pt x="19997" y="4191000"/>
                  <a:pt x="13075" y="4188133"/>
                  <a:pt x="7971" y="4183029"/>
                </a:cubicBezTo>
                <a:cubicBezTo>
                  <a:pt x="2867" y="4177926"/>
                  <a:pt x="0" y="4171004"/>
                  <a:pt x="0" y="4163786"/>
                </a:cubicBezTo>
                <a:lnTo>
                  <a:pt x="0" y="27214"/>
                </a:lnTo>
                <a:cubicBezTo>
                  <a:pt x="0" y="19997"/>
                  <a:pt x="2867" y="13075"/>
                  <a:pt x="7971" y="7971"/>
                </a:cubicBezTo>
                <a:cubicBezTo>
                  <a:pt x="13075" y="2867"/>
                  <a:pt x="19997" y="0"/>
                  <a:pt x="272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9906000" y="2190750"/>
            <a:ext cx="7791450" cy="3143250"/>
          </a:xfrm>
          <a:custGeom>
            <a:rect b="b" l="l" r="r" t="t"/>
            <a:pathLst>
              <a:path extrusionOk="0" h="4191000" w="10388600">
                <a:moveTo>
                  <a:pt x="27946" y="0"/>
                </a:moveTo>
                <a:lnTo>
                  <a:pt x="10360654" y="0"/>
                </a:lnTo>
                <a:cubicBezTo>
                  <a:pt x="10376088" y="0"/>
                  <a:pt x="10388600" y="12512"/>
                  <a:pt x="10388600" y="27946"/>
                </a:cubicBezTo>
                <a:lnTo>
                  <a:pt x="10388600" y="4163054"/>
                </a:lnTo>
                <a:cubicBezTo>
                  <a:pt x="10388600" y="4178488"/>
                  <a:pt x="10376088" y="4191000"/>
                  <a:pt x="10360654" y="4191000"/>
                </a:cubicBezTo>
                <a:lnTo>
                  <a:pt x="27946" y="4191000"/>
                </a:lnTo>
                <a:cubicBezTo>
                  <a:pt x="12512" y="4191000"/>
                  <a:pt x="0" y="4178488"/>
                  <a:pt x="0" y="4163054"/>
                </a:cubicBezTo>
                <a:lnTo>
                  <a:pt x="0" y="27946"/>
                </a:lnTo>
                <a:cubicBezTo>
                  <a:pt x="0" y="12512"/>
                  <a:pt x="12512" y="0"/>
                  <a:pt x="27946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1" name="Google Shape;271;p7"/>
          <p:cNvCxnSpPr/>
          <p:nvPr/>
        </p:nvCxnSpPr>
        <p:spPr>
          <a:xfrm>
            <a:off x="2286000" y="6477000"/>
            <a:ext cx="13716000" cy="0"/>
          </a:xfrm>
          <a:prstGeom prst="straightConnector1">
            <a:avLst/>
          </a:prstGeom>
          <a:noFill/>
          <a:ln cap="rnd" cmpd="sng" w="476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7"/>
          <p:cNvSpPr/>
          <p:nvPr/>
        </p:nvSpPr>
        <p:spPr>
          <a:xfrm>
            <a:off x="2333625" y="6286500"/>
            <a:ext cx="381000" cy="381000"/>
          </a:xfrm>
          <a:custGeom>
            <a:rect b="b" l="l" r="r" t="t"/>
            <a:pathLst>
              <a:path extrusionOk="0" h="508000" w="508000">
                <a:moveTo>
                  <a:pt x="254000" y="0"/>
                </a:moveTo>
                <a:cubicBezTo>
                  <a:pt x="394280" y="0"/>
                  <a:pt x="508000" y="113720"/>
                  <a:pt x="508000" y="254000"/>
                </a:cubicBezTo>
                <a:cubicBezTo>
                  <a:pt x="508000" y="394280"/>
                  <a:pt x="394280" y="508000"/>
                  <a:pt x="254000" y="508000"/>
                </a:cubicBezTo>
                <a:cubicBezTo>
                  <a:pt x="113720" y="508000"/>
                  <a:pt x="0" y="394280"/>
                  <a:pt x="0" y="254000"/>
                </a:cubicBezTo>
                <a:cubicBezTo>
                  <a:pt x="0" y="113720"/>
                  <a:pt x="113720" y="0"/>
                  <a:pt x="2540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8239125" y="6286500"/>
            <a:ext cx="381000" cy="381000"/>
          </a:xfrm>
          <a:custGeom>
            <a:rect b="b" l="l" r="r" t="t"/>
            <a:pathLst>
              <a:path extrusionOk="0" h="508000" w="508000">
                <a:moveTo>
                  <a:pt x="254000" y="0"/>
                </a:moveTo>
                <a:cubicBezTo>
                  <a:pt x="394280" y="0"/>
                  <a:pt x="508000" y="113720"/>
                  <a:pt x="508000" y="254000"/>
                </a:cubicBezTo>
                <a:cubicBezTo>
                  <a:pt x="508000" y="394280"/>
                  <a:pt x="394280" y="508000"/>
                  <a:pt x="254000" y="508000"/>
                </a:cubicBezTo>
                <a:cubicBezTo>
                  <a:pt x="113720" y="508000"/>
                  <a:pt x="0" y="394280"/>
                  <a:pt x="0" y="254000"/>
                </a:cubicBezTo>
                <a:cubicBezTo>
                  <a:pt x="0" y="113720"/>
                  <a:pt x="113720" y="0"/>
                  <a:pt x="254000" y="0"/>
                </a:cubicBezTo>
                <a:close/>
              </a:path>
            </a:pathLst>
          </a:cu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14144625" y="6286500"/>
            <a:ext cx="381000" cy="381000"/>
          </a:xfrm>
          <a:custGeom>
            <a:rect b="b" l="l" r="r" t="t"/>
            <a:pathLst>
              <a:path extrusionOk="0" h="508000" w="508000">
                <a:moveTo>
                  <a:pt x="254000" y="0"/>
                </a:moveTo>
                <a:cubicBezTo>
                  <a:pt x="394280" y="0"/>
                  <a:pt x="508000" y="113720"/>
                  <a:pt x="508000" y="254000"/>
                </a:cubicBezTo>
                <a:cubicBezTo>
                  <a:pt x="508000" y="394280"/>
                  <a:pt x="394280" y="508000"/>
                  <a:pt x="254000" y="508000"/>
                </a:cubicBezTo>
                <a:cubicBezTo>
                  <a:pt x="113720" y="508000"/>
                  <a:pt x="0" y="394280"/>
                  <a:pt x="0" y="254000"/>
                </a:cubicBezTo>
                <a:cubicBezTo>
                  <a:pt x="0" y="113720"/>
                  <a:pt x="113720" y="0"/>
                  <a:pt x="254000" y="0"/>
                </a:cubicBezTo>
                <a:close/>
              </a:path>
            </a:pathLst>
          </a:cu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876300" y="6667500"/>
            <a:ext cx="4953000" cy="1809750"/>
          </a:xfrm>
          <a:custGeom>
            <a:rect b="b" l="l" r="r" t="t"/>
            <a:pathLst>
              <a:path extrusionOk="0" h="2413000" w="6604000">
                <a:moveTo>
                  <a:pt x="43962" y="0"/>
                </a:moveTo>
                <a:lnTo>
                  <a:pt x="6560038" y="0"/>
                </a:lnTo>
                <a:cubicBezTo>
                  <a:pt x="6571698" y="0"/>
                  <a:pt x="6582880" y="4632"/>
                  <a:pt x="6591124" y="12876"/>
                </a:cubicBezTo>
                <a:cubicBezTo>
                  <a:pt x="6599368" y="21120"/>
                  <a:pt x="6604000" y="32302"/>
                  <a:pt x="6604000" y="43962"/>
                </a:cubicBezTo>
                <a:lnTo>
                  <a:pt x="6604000" y="2369039"/>
                </a:lnTo>
                <a:cubicBezTo>
                  <a:pt x="6604000" y="2380698"/>
                  <a:pt x="6599368" y="2391880"/>
                  <a:pt x="6591124" y="2400124"/>
                </a:cubicBezTo>
                <a:cubicBezTo>
                  <a:pt x="6582880" y="2408368"/>
                  <a:pt x="6571698" y="2413000"/>
                  <a:pt x="6560038" y="2413000"/>
                </a:cubicBezTo>
                <a:lnTo>
                  <a:pt x="43962" y="2413000"/>
                </a:lnTo>
                <a:cubicBezTo>
                  <a:pt x="32302" y="2413000"/>
                  <a:pt x="21120" y="2408368"/>
                  <a:pt x="12876" y="2400124"/>
                </a:cubicBezTo>
                <a:cubicBezTo>
                  <a:pt x="4632" y="2391880"/>
                  <a:pt x="0" y="2380698"/>
                  <a:pt x="0" y="2369039"/>
                </a:cubicBezTo>
                <a:lnTo>
                  <a:pt x="0" y="43962"/>
                </a:lnTo>
                <a:cubicBezTo>
                  <a:pt x="0" y="32302"/>
                  <a:pt x="4632" y="21120"/>
                  <a:pt x="12876" y="12876"/>
                </a:cubicBezTo>
                <a:cubicBezTo>
                  <a:pt x="21120" y="4632"/>
                  <a:pt x="32302" y="0"/>
                  <a:pt x="439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6781800" y="6667500"/>
            <a:ext cx="4953000" cy="1809750"/>
          </a:xfrm>
          <a:custGeom>
            <a:rect b="b" l="l" r="r" t="t"/>
            <a:pathLst>
              <a:path extrusionOk="0" h="2413000" w="6604000">
                <a:moveTo>
                  <a:pt x="43962" y="0"/>
                </a:moveTo>
                <a:lnTo>
                  <a:pt x="6560038" y="0"/>
                </a:lnTo>
                <a:cubicBezTo>
                  <a:pt x="6571698" y="0"/>
                  <a:pt x="6582880" y="4632"/>
                  <a:pt x="6591124" y="12876"/>
                </a:cubicBezTo>
                <a:cubicBezTo>
                  <a:pt x="6599368" y="21120"/>
                  <a:pt x="6604000" y="32302"/>
                  <a:pt x="6604000" y="43962"/>
                </a:cubicBezTo>
                <a:lnTo>
                  <a:pt x="6604000" y="2369039"/>
                </a:lnTo>
                <a:cubicBezTo>
                  <a:pt x="6604000" y="2380698"/>
                  <a:pt x="6599368" y="2391880"/>
                  <a:pt x="6591124" y="2400124"/>
                </a:cubicBezTo>
                <a:cubicBezTo>
                  <a:pt x="6582880" y="2408368"/>
                  <a:pt x="6571698" y="2413000"/>
                  <a:pt x="6560038" y="2413000"/>
                </a:cubicBezTo>
                <a:lnTo>
                  <a:pt x="43962" y="2413000"/>
                </a:lnTo>
                <a:cubicBezTo>
                  <a:pt x="32302" y="2413000"/>
                  <a:pt x="21120" y="2408368"/>
                  <a:pt x="12876" y="2400124"/>
                </a:cubicBezTo>
                <a:cubicBezTo>
                  <a:pt x="4632" y="2391880"/>
                  <a:pt x="0" y="2380698"/>
                  <a:pt x="0" y="2369039"/>
                </a:cubicBezTo>
                <a:lnTo>
                  <a:pt x="0" y="43962"/>
                </a:lnTo>
                <a:cubicBezTo>
                  <a:pt x="0" y="32302"/>
                  <a:pt x="4632" y="21120"/>
                  <a:pt x="12876" y="12876"/>
                </a:cubicBezTo>
                <a:cubicBezTo>
                  <a:pt x="21120" y="4632"/>
                  <a:pt x="32302" y="0"/>
                  <a:pt x="4396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12687300" y="6667500"/>
            <a:ext cx="4953000" cy="1809750"/>
          </a:xfrm>
          <a:custGeom>
            <a:rect b="b" l="l" r="r" t="t"/>
            <a:pathLst>
              <a:path extrusionOk="0" h="2413000" w="6604000">
                <a:moveTo>
                  <a:pt x="43962" y="0"/>
                </a:moveTo>
                <a:lnTo>
                  <a:pt x="6560038" y="0"/>
                </a:lnTo>
                <a:cubicBezTo>
                  <a:pt x="6571698" y="0"/>
                  <a:pt x="6582880" y="4632"/>
                  <a:pt x="6591124" y="12876"/>
                </a:cubicBezTo>
                <a:cubicBezTo>
                  <a:pt x="6599368" y="21120"/>
                  <a:pt x="6604000" y="32302"/>
                  <a:pt x="6604000" y="43962"/>
                </a:cubicBezTo>
                <a:lnTo>
                  <a:pt x="6604000" y="2369039"/>
                </a:lnTo>
                <a:cubicBezTo>
                  <a:pt x="6604000" y="2380698"/>
                  <a:pt x="6599368" y="2391880"/>
                  <a:pt x="6591124" y="2400124"/>
                </a:cubicBezTo>
                <a:cubicBezTo>
                  <a:pt x="6582880" y="2408368"/>
                  <a:pt x="6571698" y="2413000"/>
                  <a:pt x="6560038" y="2413000"/>
                </a:cubicBezTo>
                <a:lnTo>
                  <a:pt x="43962" y="2413000"/>
                </a:lnTo>
                <a:cubicBezTo>
                  <a:pt x="32302" y="2413000"/>
                  <a:pt x="21120" y="2408368"/>
                  <a:pt x="12876" y="2400124"/>
                </a:cubicBezTo>
                <a:cubicBezTo>
                  <a:pt x="4632" y="2391880"/>
                  <a:pt x="0" y="2380698"/>
                  <a:pt x="0" y="2369039"/>
                </a:cubicBezTo>
                <a:lnTo>
                  <a:pt x="0" y="43962"/>
                </a:lnTo>
                <a:cubicBezTo>
                  <a:pt x="0" y="32302"/>
                  <a:pt x="4632" y="21120"/>
                  <a:pt x="12876" y="12876"/>
                </a:cubicBezTo>
                <a:cubicBezTo>
                  <a:pt x="21120" y="4632"/>
                  <a:pt x="32302" y="0"/>
                  <a:pt x="43962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876300" y="2419350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SCRUM · SPRINTS SEMANALES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876300" y="2971800"/>
            <a:ext cx="6191250" cy="761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Planeación · Revisión · Retrospectiva</a:t>
            </a:r>
            <a:endParaRPr/>
          </a:p>
          <a:p>
            <a:pPr indent="0" lvl="0" marL="0" marR="0" rtl="0" algn="l">
              <a:lnSpc>
                <a:spcPct val="12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Sábados 09:00–10:00 hrs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876300" y="4086225"/>
            <a:ext cx="533400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ClickUp Kanban ↔ GitHub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10668000" y="24193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ROLES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10668000" y="2933700"/>
            <a:ext cx="6477000" cy="1538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PO  Mauricio Urrutia</a:t>
            </a:r>
            <a:endParaRPr/>
          </a:p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SM  Lucero Leyva</a:t>
            </a:r>
            <a:endParaRPr/>
          </a:p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TEAM  Renato · Mauricio · Lucero</a:t>
            </a:r>
            <a:endParaRPr/>
          </a:p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STAKEHOLDERS  Duoc UC · instituciones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1190625" y="6867525"/>
            <a:ext cx="4095750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01  ESPECIFICAR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1190625" y="7343775"/>
            <a:ext cx="40957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Semanas 1–4</a:t>
            </a:r>
            <a:endParaRPr/>
          </a:p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Diseño, diagramas, planificación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7096125" y="6867525"/>
            <a:ext cx="4095750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02  CONSTRUIR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7096125" y="7343775"/>
            <a:ext cx="40957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Semanas 5–9</a:t>
            </a:r>
            <a:endParaRPr/>
          </a:p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Núcleo SaaS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13001625" y="6867525"/>
            <a:ext cx="4095750" cy="25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  VERIFICAR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13001625" y="7343775"/>
            <a:ext cx="40957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Semanas 10 – 14</a:t>
            </a:r>
            <a:endParaRPr/>
          </a:p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Pruebas QA, Cierre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16764000" y="9744075"/>
            <a:ext cx="666750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06 / 13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8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295" name="Google Shape;295;p8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96" name="Google Shape;296;p8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8"/>
          <p:cNvSpPr/>
          <p:nvPr/>
        </p:nvSpPr>
        <p:spPr>
          <a:xfrm>
            <a:off x="3901923" y="2080107"/>
            <a:ext cx="9739448" cy="7018132"/>
          </a:xfrm>
          <a:custGeom>
            <a:rect b="b" l="l" r="r" t="t"/>
            <a:pathLst>
              <a:path extrusionOk="0" h="7018132" w="9739448">
                <a:moveTo>
                  <a:pt x="0" y="0"/>
                </a:moveTo>
                <a:lnTo>
                  <a:pt x="9739448" y="0"/>
                </a:lnTo>
                <a:lnTo>
                  <a:pt x="9739448" y="7018132"/>
                </a:lnTo>
                <a:lnTo>
                  <a:pt x="0" y="7018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40" l="-44062" r="-16673" t="-22661"/>
            </a:stretch>
          </a:blipFill>
          <a:ln>
            <a:noFill/>
          </a:ln>
        </p:spPr>
      </p:sp>
      <p:sp>
        <p:nvSpPr>
          <p:cNvPr id="298" name="Google Shape;298;p8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Mapa Tecnológico / Arquitectura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16764000" y="9744075"/>
            <a:ext cx="666750" cy="23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07 / 13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Competencias</a:t>
            </a:r>
            <a:endParaRPr/>
          </a:p>
        </p:txBody>
      </p:sp>
      <p:grpSp>
        <p:nvGrpSpPr>
          <p:cNvPr id="305" name="Google Shape;305;p9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306" name="Google Shape;306;p9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07" name="Google Shape;307;p9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9"/>
          <p:cNvSpPr/>
          <p:nvPr/>
        </p:nvSpPr>
        <p:spPr>
          <a:xfrm>
            <a:off x="619125" y="2476500"/>
            <a:ext cx="17049750" cy="6286500"/>
          </a:xfrm>
          <a:custGeom>
            <a:rect b="b" l="l" r="r" t="t"/>
            <a:pathLst>
              <a:path extrusionOk="0" h="8382000" w="22733000">
                <a:moveTo>
                  <a:pt x="9933" y="0"/>
                </a:moveTo>
                <a:lnTo>
                  <a:pt x="22723067" y="0"/>
                </a:lnTo>
                <a:cubicBezTo>
                  <a:pt x="22728552" y="0"/>
                  <a:pt x="22733000" y="4447"/>
                  <a:pt x="22733000" y="9933"/>
                </a:cubicBezTo>
                <a:lnTo>
                  <a:pt x="22733000" y="8372067"/>
                </a:lnTo>
                <a:cubicBezTo>
                  <a:pt x="22733000" y="8377553"/>
                  <a:pt x="22728552" y="8382000"/>
                  <a:pt x="22723067" y="8382000"/>
                </a:cubicBezTo>
                <a:lnTo>
                  <a:pt x="9933" y="8382000"/>
                </a:lnTo>
                <a:cubicBezTo>
                  <a:pt x="4447" y="8382000"/>
                  <a:pt x="0" y="8377553"/>
                  <a:pt x="0" y="8372067"/>
                </a:cubicBezTo>
                <a:lnTo>
                  <a:pt x="0" y="9933"/>
                </a:lnTo>
                <a:cubicBezTo>
                  <a:pt x="0" y="4447"/>
                  <a:pt x="4447" y="0"/>
                  <a:pt x="99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619125" y="7553325"/>
            <a:ext cx="17049750" cy="838200"/>
          </a:xfrm>
          <a:custGeom>
            <a:rect b="b" l="l" r="r" t="t"/>
            <a:pathLst>
              <a:path extrusionOk="0" h="1117600" w="22733000">
                <a:moveTo>
                  <a:pt x="0" y="0"/>
                </a:moveTo>
                <a:lnTo>
                  <a:pt x="22733000" y="0"/>
                </a:lnTo>
                <a:lnTo>
                  <a:pt x="22733000" y="1117600"/>
                </a:lnTo>
                <a:lnTo>
                  <a:pt x="0" y="1117600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cxnSp>
        <p:nvCxnSpPr>
          <p:cNvPr id="310" name="Google Shape;310;p9"/>
          <p:cNvCxnSpPr/>
          <p:nvPr/>
        </p:nvCxnSpPr>
        <p:spPr>
          <a:xfrm>
            <a:off x="619125" y="3276600"/>
            <a:ext cx="1704975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/>
          <p:nvPr/>
        </p:nvCxnSpPr>
        <p:spPr>
          <a:xfrm>
            <a:off x="619125" y="4124325"/>
            <a:ext cx="1704975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9"/>
          <p:cNvCxnSpPr/>
          <p:nvPr/>
        </p:nvCxnSpPr>
        <p:spPr>
          <a:xfrm>
            <a:off x="619125" y="4972050"/>
            <a:ext cx="1704975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/>
          <p:nvPr/>
        </p:nvCxnSpPr>
        <p:spPr>
          <a:xfrm>
            <a:off x="619125" y="5819775"/>
            <a:ext cx="1704975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9"/>
          <p:cNvCxnSpPr/>
          <p:nvPr/>
        </p:nvCxnSpPr>
        <p:spPr>
          <a:xfrm>
            <a:off x="619125" y="6667500"/>
            <a:ext cx="1704975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9"/>
          <p:cNvCxnSpPr/>
          <p:nvPr/>
        </p:nvCxnSpPr>
        <p:spPr>
          <a:xfrm>
            <a:off x="619125" y="7515225"/>
            <a:ext cx="1704975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9"/>
          <p:cNvCxnSpPr/>
          <p:nvPr/>
        </p:nvCxnSpPr>
        <p:spPr>
          <a:xfrm>
            <a:off x="619125" y="8362950"/>
            <a:ext cx="1704975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9"/>
          <p:cNvSpPr txBox="1"/>
          <p:nvPr/>
        </p:nvSpPr>
        <p:spPr>
          <a:xfrm>
            <a:off x="895350" y="27527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3629025" y="27527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PÚBLICO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6362700" y="27527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AISLAMIENTO</a:t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9096375" y="27527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COMPROBACIÓN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11830050" y="27527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CUSTODIA</a:t>
            </a:r>
            <a:endParaRPr/>
          </a:p>
        </p:txBody>
      </p:sp>
      <p:sp>
        <p:nvSpPr>
          <p:cNvPr id="322" name="Google Shape;322;p9"/>
          <p:cNvSpPr txBox="1"/>
          <p:nvPr/>
        </p:nvSpPr>
        <p:spPr>
          <a:xfrm>
            <a:off x="14563725" y="2752725"/>
            <a:ext cx="2571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ACTA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895350" y="3495675"/>
            <a:ext cx="2571750" cy="24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SoSafe / RRSS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3629025" y="34575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Masivo</a:t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6362700" y="34575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9096375" y="34575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Social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11830050" y="34575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14563725" y="34575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895350" y="4343400"/>
            <a:ext cx="2571750" cy="24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iLost</a:t>
            </a:r>
            <a:endParaRPr/>
          </a:p>
        </p:txBody>
      </p:sp>
      <p:sp>
        <p:nvSpPr>
          <p:cNvPr id="330" name="Google Shape;330;p9"/>
          <p:cNvSpPr txBox="1"/>
          <p:nvPr/>
        </p:nvSpPr>
        <p:spPr>
          <a:xfrm>
            <a:off x="3629025" y="43053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General</a:t>
            </a:r>
            <a:endParaRPr/>
          </a:p>
        </p:txBody>
      </p:sp>
      <p:sp>
        <p:nvSpPr>
          <p:cNvPr id="331" name="Google Shape;331;p9"/>
          <p:cNvSpPr txBox="1"/>
          <p:nvPr/>
        </p:nvSpPr>
        <p:spPr>
          <a:xfrm>
            <a:off x="6362700" y="43053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Básico</a:t>
            </a:r>
            <a:endParaRPr/>
          </a:p>
        </p:txBody>
      </p:sp>
      <p:sp>
        <p:nvSpPr>
          <p:cNvPr id="332" name="Google Shape;332;p9"/>
          <p:cNvSpPr txBox="1"/>
          <p:nvPr/>
        </p:nvSpPr>
        <p:spPr>
          <a:xfrm>
            <a:off x="9096375" y="43053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Formulario</a:t>
            </a:r>
            <a:endParaRPr/>
          </a:p>
        </p:txBody>
      </p:sp>
      <p:sp>
        <p:nvSpPr>
          <p:cNvPr id="333" name="Google Shape;333;p9"/>
          <p:cNvSpPr txBox="1"/>
          <p:nvPr/>
        </p:nvSpPr>
        <p:spPr>
          <a:xfrm>
            <a:off x="11830050" y="43053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Parcial</a:t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14563725" y="43053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895350" y="5191125"/>
            <a:ext cx="2571750" cy="24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NotLost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3629025" y="515302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B2B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6362700" y="515302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9096375" y="515302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Matching</a:t>
            </a:r>
            <a:endParaRPr/>
          </a:p>
        </p:txBody>
      </p:sp>
      <p:sp>
        <p:nvSpPr>
          <p:cNvPr id="339" name="Google Shape;339;p9"/>
          <p:cNvSpPr txBox="1"/>
          <p:nvPr/>
        </p:nvSpPr>
        <p:spPr>
          <a:xfrm>
            <a:off x="11830050" y="515302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Sí</a:t>
            </a:r>
            <a:endParaRPr/>
          </a:p>
        </p:txBody>
      </p:sp>
      <p:sp>
        <p:nvSpPr>
          <p:cNvPr id="340" name="Google Shape;340;p9"/>
          <p:cNvSpPr txBox="1"/>
          <p:nvPr/>
        </p:nvSpPr>
        <p:spPr>
          <a:xfrm>
            <a:off x="14563725" y="515302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Parcial</a:t>
            </a:r>
            <a:endParaRPr/>
          </a:p>
        </p:txBody>
      </p:sp>
      <p:sp>
        <p:nvSpPr>
          <p:cNvPr id="341" name="Google Shape;341;p9"/>
          <p:cNvSpPr txBox="1"/>
          <p:nvPr/>
        </p:nvSpPr>
        <p:spPr>
          <a:xfrm>
            <a:off x="895350" y="6038850"/>
            <a:ext cx="2571750" cy="24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Lostings / Campus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3629025" y="600075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Campus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6362700" y="600075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Cuenta</a:t>
            </a:r>
            <a:endParaRPr/>
          </a:p>
        </p:txBody>
      </p:sp>
      <p:sp>
        <p:nvSpPr>
          <p:cNvPr id="344" name="Google Shape;344;p9"/>
          <p:cNvSpPr txBox="1"/>
          <p:nvPr/>
        </p:nvSpPr>
        <p:spPr>
          <a:xfrm>
            <a:off x="9096375" y="600075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Descripción</a:t>
            </a:r>
            <a:endParaRPr/>
          </a:p>
        </p:txBody>
      </p:sp>
      <p:sp>
        <p:nvSpPr>
          <p:cNvPr id="345" name="Google Shape;345;p9"/>
          <p:cNvSpPr txBox="1"/>
          <p:nvPr/>
        </p:nvSpPr>
        <p:spPr>
          <a:xfrm>
            <a:off x="11830050" y="600075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Parcial</a:t>
            </a:r>
            <a:endParaRPr/>
          </a:p>
        </p:txBody>
      </p:sp>
      <p:sp>
        <p:nvSpPr>
          <p:cNvPr id="346" name="Google Shape;346;p9"/>
          <p:cNvSpPr txBox="1"/>
          <p:nvPr/>
        </p:nvSpPr>
        <p:spPr>
          <a:xfrm>
            <a:off x="14563725" y="600075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/>
          </a:p>
        </p:txBody>
      </p:sp>
      <p:sp>
        <p:nvSpPr>
          <p:cNvPr id="347" name="Google Shape;347;p9"/>
          <p:cNvSpPr txBox="1"/>
          <p:nvPr/>
        </p:nvSpPr>
        <p:spPr>
          <a:xfrm>
            <a:off x="895350" y="6886575"/>
            <a:ext cx="2571750" cy="24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FindMyLost</a:t>
            </a:r>
            <a:endParaRPr/>
          </a:p>
        </p:txBody>
      </p:sp>
      <p:sp>
        <p:nvSpPr>
          <p:cNvPr id="348" name="Google Shape;348;p9"/>
          <p:cNvSpPr txBox="1"/>
          <p:nvPr/>
        </p:nvSpPr>
        <p:spPr>
          <a:xfrm>
            <a:off x="3629025" y="68484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General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6362700" y="68484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Cuenta</a:t>
            </a:r>
            <a:endParaRPr/>
          </a:p>
        </p:txBody>
      </p:sp>
      <p:sp>
        <p:nvSpPr>
          <p:cNvPr id="350" name="Google Shape;350;p9"/>
          <p:cNvSpPr txBox="1"/>
          <p:nvPr/>
        </p:nvSpPr>
        <p:spPr>
          <a:xfrm>
            <a:off x="9096375" y="68484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Propiedad</a:t>
            </a:r>
            <a:endParaRPr/>
          </a:p>
        </p:txBody>
      </p:sp>
      <p:sp>
        <p:nvSpPr>
          <p:cNvPr id="351" name="Google Shape;351;p9"/>
          <p:cNvSpPr txBox="1"/>
          <p:nvPr/>
        </p:nvSpPr>
        <p:spPr>
          <a:xfrm>
            <a:off x="11830050" y="68484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/>
          </a:p>
        </p:txBody>
      </p:sp>
      <p:sp>
        <p:nvSpPr>
          <p:cNvPr id="352" name="Google Shape;352;p9"/>
          <p:cNvSpPr txBox="1"/>
          <p:nvPr/>
        </p:nvSpPr>
        <p:spPr>
          <a:xfrm>
            <a:off x="14563725" y="6848475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endParaRPr/>
          </a:p>
        </p:txBody>
      </p:sp>
      <p:sp>
        <p:nvSpPr>
          <p:cNvPr id="353" name="Google Shape;353;p9"/>
          <p:cNvSpPr txBox="1"/>
          <p:nvPr/>
        </p:nvSpPr>
        <p:spPr>
          <a:xfrm>
            <a:off x="895350" y="7734300"/>
            <a:ext cx="2571750" cy="24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BackToMe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3629025" y="76962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B2B SaaS</a:t>
            </a:r>
            <a:endParaRPr/>
          </a:p>
        </p:txBody>
      </p:sp>
      <p:sp>
        <p:nvSpPr>
          <p:cNvPr id="355" name="Google Shape;355;p9"/>
          <p:cNvSpPr txBox="1"/>
          <p:nvPr/>
        </p:nvSpPr>
        <p:spPr>
          <a:xfrm>
            <a:off x="6362700" y="76962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RLS</a:t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9096375" y="76962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Formulario y QR</a:t>
            </a:r>
            <a:endParaRPr/>
          </a:p>
        </p:txBody>
      </p:sp>
      <p:sp>
        <p:nvSpPr>
          <p:cNvPr id="357" name="Google Shape;357;p9"/>
          <p:cNvSpPr txBox="1"/>
          <p:nvPr/>
        </p:nvSpPr>
        <p:spPr>
          <a:xfrm>
            <a:off x="11830050" y="76962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Personal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14563725" y="7696200"/>
            <a:ext cx="2571750" cy="263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Inmutable</a:t>
            </a:r>
            <a:endParaRPr/>
          </a:p>
        </p:txBody>
      </p:sp>
      <p:sp>
        <p:nvSpPr>
          <p:cNvPr id="359" name="Google Shape;359;p9"/>
          <p:cNvSpPr txBox="1"/>
          <p:nvPr/>
        </p:nvSpPr>
        <p:spPr>
          <a:xfrm>
            <a:off x="619125" y="8715375"/>
            <a:ext cx="1601984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9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Row-Level Security: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9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Cada usuario vea únicamente las filas de datos que está autorizado a consultar.</a:t>
            </a:r>
            <a:endParaRPr/>
          </a:p>
        </p:txBody>
      </p:sp>
      <p:sp>
        <p:nvSpPr>
          <p:cNvPr id="360" name="Google Shape;360;p9"/>
          <p:cNvSpPr txBox="1"/>
          <p:nvPr/>
        </p:nvSpPr>
        <p:spPr>
          <a:xfrm>
            <a:off x="16764000" y="9744075"/>
            <a:ext cx="666750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08 / 13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10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366" name="Google Shape;366;p10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67" name="Google Shape;367;p10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10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Riesgos</a:t>
            </a:r>
            <a:endParaRPr/>
          </a:p>
        </p:txBody>
      </p:sp>
      <p:sp>
        <p:nvSpPr>
          <p:cNvPr id="369" name="Google Shape;369;p10"/>
          <p:cNvSpPr txBox="1"/>
          <p:nvPr/>
        </p:nvSpPr>
        <p:spPr>
          <a:xfrm>
            <a:off x="876300" y="1466850"/>
            <a:ext cx="1428750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Tabla de riesgos</a:t>
            </a:r>
            <a:endParaRPr/>
          </a:p>
        </p:txBody>
      </p:sp>
      <p:sp>
        <p:nvSpPr>
          <p:cNvPr id="370" name="Google Shape;370;p10"/>
          <p:cNvSpPr txBox="1"/>
          <p:nvPr/>
        </p:nvSpPr>
        <p:spPr>
          <a:xfrm>
            <a:off x="16764000" y="9744075"/>
            <a:ext cx="666750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09 / 13</a:t>
            </a:r>
            <a:endParaRPr/>
          </a:p>
        </p:txBody>
      </p:sp>
      <p:graphicFrame>
        <p:nvGraphicFramePr>
          <p:cNvPr id="371" name="Google Shape;371;p10"/>
          <p:cNvGraphicFramePr/>
          <p:nvPr/>
        </p:nvGraphicFramePr>
        <p:xfrm>
          <a:off x="876225" y="23155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{DCFA424D-75D5-4461-BF4F-320664B3C38E}</a:tableStyleId>
              </a:tblPr>
              <a:tblGrid>
                <a:gridCol w="2364925"/>
                <a:gridCol w="2364925"/>
                <a:gridCol w="2364925"/>
                <a:gridCol w="2364925"/>
                <a:gridCol w="2364925"/>
                <a:gridCol w="2364925"/>
                <a:gridCol w="2364925"/>
              </a:tblGrid>
              <a:tr h="729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</a:rPr>
                        <a:t>ID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8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</a:rPr>
                        <a:t>Riesgo Identificado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8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</a:rPr>
                        <a:t>Categoría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8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</a:rPr>
                        <a:t>P (1-5)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8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</a:rPr>
                        <a:t>I (1-5)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8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</a:rPr>
                        <a:t>S (1-25)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8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</a:rPr>
                        <a:t>Estrategia de Respuesta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85B7B5"/>
                    </a:solidFill>
                  </a:tcPr>
                </a:tc>
              </a:tr>
              <a:tr h="113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4A4A4A"/>
                          </a:solidFill>
                        </a:rPr>
                        <a:t>R1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Restricción por Ley N° 19.628 de Protección de Datos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Legal / Regulatorio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3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4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12 (Alto)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Mitigar e Introducir Control Técnico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</a:tr>
              <a:tr h="113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4A4A4A"/>
                          </a:solidFill>
                        </a:rPr>
                        <a:t>R2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Fuga lógica de datos multi-tenant (Tenant Leakage)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Técnico / Seguridad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2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5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10 (Medio-Alto)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Mitigar vía Base de Datos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</a:tr>
              <a:tr h="113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4A4A4A"/>
                          </a:solidFill>
                        </a:rPr>
                        <a:t>R3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Fallas o latencia en Autenticación Universal (OAuth)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Técnico / Integración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3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3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9 (Medio)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Mitigar mediante Redundancia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</a:tr>
              <a:tr h="90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4A4A4A"/>
                          </a:solidFill>
                        </a:rPr>
                        <a:t>R4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Continuidad por ausencia imprevista de integrante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Gestión / Operacional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2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4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8 (Medio)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Aceptar y Mitigar con Ágiles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>
                    <a:solidFill>
                      <a:srgbClr val="F5FBFB"/>
                    </a:solidFill>
                  </a:tcPr>
                </a:tc>
              </a:tr>
              <a:tr h="113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4A4A4A"/>
                          </a:solidFill>
                        </a:rPr>
                        <a:t>R5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Vendor Lock-in o cambios en políticas de Cloudflare R2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Técnico / Infraestructura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2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3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6 (Bajo-Medio)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4A4A4A"/>
                          </a:solidFill>
                        </a:rPr>
                        <a:t>Mitigar (Flexibilidad Arquitectónica)</a:t>
                      </a:r>
                      <a:endParaRPr sz="2400">
                        <a:solidFill>
                          <a:srgbClr val="4A4A4A"/>
                        </a:solidFill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Riesgos</a:t>
            </a:r>
            <a:endParaRPr/>
          </a:p>
        </p:txBody>
      </p:sp>
      <p:sp>
        <p:nvSpPr>
          <p:cNvPr id="377" name="Google Shape;377;p11"/>
          <p:cNvSpPr txBox="1"/>
          <p:nvPr/>
        </p:nvSpPr>
        <p:spPr>
          <a:xfrm>
            <a:off x="876300" y="1466850"/>
            <a:ext cx="14287500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Matriz 5×5 · Probabilidad × Impacto</a:t>
            </a:r>
            <a:endParaRPr/>
          </a:p>
        </p:txBody>
      </p:sp>
      <p:grpSp>
        <p:nvGrpSpPr>
          <p:cNvPr id="378" name="Google Shape;378;p11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379" name="Google Shape;379;p11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80" name="Google Shape;380;p11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1"/>
          <p:cNvSpPr/>
          <p:nvPr/>
        </p:nvSpPr>
        <p:spPr>
          <a:xfrm>
            <a:off x="2381250" y="27932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BBF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3381375" y="27932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4381500" y="27932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5381625" y="27932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6381750" y="27932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FB4A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2381250" y="379333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BBF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3381375" y="379333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381500" y="379333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5381625" y="379333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6381750" y="379333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D7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2381250" y="479345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3381375" y="479345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BBF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4381500" y="479345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5381625" y="479345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6381750" y="479345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2381250" y="579358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3381375" y="579358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4381500" y="579358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BBF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5381625" y="579358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BBF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6381750" y="5793581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BBF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2381250" y="67937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3381375" y="67937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4381500" y="67937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5381625" y="67937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6381750" y="6793706"/>
            <a:ext cx="914400" cy="914400"/>
          </a:xfrm>
          <a:custGeom>
            <a:rect b="b" l="l" r="r" t="t"/>
            <a:pathLst>
              <a:path extrusionOk="0" h="1219200" w="1219200">
                <a:moveTo>
                  <a:pt x="132292" y="0"/>
                </a:moveTo>
                <a:lnTo>
                  <a:pt x="1086908" y="0"/>
                </a:lnTo>
                <a:cubicBezTo>
                  <a:pt x="1159971" y="0"/>
                  <a:pt x="1219200" y="59229"/>
                  <a:pt x="1219200" y="132292"/>
                </a:cubicBezTo>
                <a:lnTo>
                  <a:pt x="1219200" y="1086908"/>
                </a:lnTo>
                <a:cubicBezTo>
                  <a:pt x="1219200" y="1159971"/>
                  <a:pt x="1159971" y="1219200"/>
                  <a:pt x="1086908" y="1219200"/>
                </a:cubicBezTo>
                <a:lnTo>
                  <a:pt x="132292" y="1219200"/>
                </a:lnTo>
                <a:cubicBezTo>
                  <a:pt x="59229" y="1219200"/>
                  <a:pt x="0" y="1159971"/>
                  <a:pt x="0" y="1086908"/>
                </a:cubicBezTo>
                <a:lnTo>
                  <a:pt x="0" y="132292"/>
                </a:lnTo>
                <a:cubicBezTo>
                  <a:pt x="0" y="59229"/>
                  <a:pt x="59229" y="0"/>
                  <a:pt x="132292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5629275" y="5041106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6629400" y="6041231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4629150" y="5041106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FFDE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5629275" y="6041231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163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4629150" y="6041231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163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3790950" y="7898606"/>
            <a:ext cx="2857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IMPACTO →</a:t>
            </a:r>
            <a:endParaRPr/>
          </a:p>
        </p:txBody>
      </p:sp>
      <p:sp>
        <p:nvSpPr>
          <p:cNvPr id="412" name="Google Shape;412;p11"/>
          <p:cNvSpPr txBox="1"/>
          <p:nvPr/>
        </p:nvSpPr>
        <p:spPr>
          <a:xfrm rot="-5400000">
            <a:off x="1114425" y="5069681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PROBABILIDAD</a:t>
            </a:r>
            <a:endParaRPr/>
          </a:p>
        </p:txBody>
      </p:sp>
      <p:sp>
        <p:nvSpPr>
          <p:cNvPr id="413" name="Google Shape;413;p11"/>
          <p:cNvSpPr txBox="1"/>
          <p:nvPr/>
        </p:nvSpPr>
        <p:spPr>
          <a:xfrm>
            <a:off x="8667750" y="2516981"/>
            <a:ext cx="4953000" cy="27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RIESGO / SEVERIDAD</a:t>
            </a:r>
            <a:endParaRPr/>
          </a:p>
        </p:txBody>
      </p:sp>
      <p:sp>
        <p:nvSpPr>
          <p:cNvPr id="414" name="Google Shape;414;p11"/>
          <p:cNvSpPr txBox="1"/>
          <p:nvPr/>
        </p:nvSpPr>
        <p:spPr>
          <a:xfrm>
            <a:off x="8667750" y="3145631"/>
            <a:ext cx="4095750" cy="275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R1  12 · ALTO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8667750" y="3517106"/>
            <a:ext cx="8096250" cy="28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Privacidad por diseño + revisión legal</a:t>
            </a:r>
            <a:endParaRPr/>
          </a:p>
        </p:txBody>
      </p:sp>
      <p:sp>
        <p:nvSpPr>
          <p:cNvPr id="416" name="Google Shape;416;p11"/>
          <p:cNvSpPr txBox="1"/>
          <p:nvPr/>
        </p:nvSpPr>
        <p:spPr>
          <a:xfrm>
            <a:off x="8667750" y="4212431"/>
            <a:ext cx="4095750" cy="275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R2  10 · MEDIO-ALTO</a:t>
            </a:r>
            <a:endParaRPr/>
          </a:p>
        </p:txBody>
      </p:sp>
      <p:sp>
        <p:nvSpPr>
          <p:cNvPr id="417" name="Google Shape;417;p11"/>
          <p:cNvSpPr txBox="1"/>
          <p:nvPr/>
        </p:nvSpPr>
        <p:spPr>
          <a:xfrm>
            <a:off x="8667750" y="4583906"/>
            <a:ext cx="8096250" cy="28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RLS + tests cross-tenant</a:t>
            </a:r>
            <a:endParaRPr/>
          </a:p>
        </p:txBody>
      </p:sp>
      <p:sp>
        <p:nvSpPr>
          <p:cNvPr id="418" name="Google Shape;418;p11"/>
          <p:cNvSpPr txBox="1"/>
          <p:nvPr/>
        </p:nvSpPr>
        <p:spPr>
          <a:xfrm>
            <a:off x="8667750" y="5279231"/>
            <a:ext cx="4095750" cy="275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R3  9 · MEDIO</a:t>
            </a:r>
            <a:endParaRPr/>
          </a:p>
        </p:txBody>
      </p:sp>
      <p:sp>
        <p:nvSpPr>
          <p:cNvPr id="419" name="Google Shape;419;p11"/>
          <p:cNvSpPr txBox="1"/>
          <p:nvPr/>
        </p:nvSpPr>
        <p:spPr>
          <a:xfrm>
            <a:off x="8667750" y="5650706"/>
            <a:ext cx="8096250" cy="28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Fallback y observabilidad OAuth</a:t>
            </a:r>
            <a:endParaRPr/>
          </a:p>
        </p:txBody>
      </p:sp>
      <p:sp>
        <p:nvSpPr>
          <p:cNvPr id="420" name="Google Shape;420;p11"/>
          <p:cNvSpPr txBox="1"/>
          <p:nvPr/>
        </p:nvSpPr>
        <p:spPr>
          <a:xfrm>
            <a:off x="8667750" y="6346031"/>
            <a:ext cx="4095750" cy="275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R4  8 · MEDIO</a:t>
            </a:r>
            <a:endParaRPr/>
          </a:p>
        </p:txBody>
      </p:sp>
      <p:sp>
        <p:nvSpPr>
          <p:cNvPr id="421" name="Google Shape;421;p11"/>
          <p:cNvSpPr txBox="1"/>
          <p:nvPr/>
        </p:nvSpPr>
        <p:spPr>
          <a:xfrm>
            <a:off x="8667750" y="6717506"/>
            <a:ext cx="8096250" cy="28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Documentación y pares</a:t>
            </a:r>
            <a:endParaRPr/>
          </a:p>
        </p:txBody>
      </p:sp>
      <p:sp>
        <p:nvSpPr>
          <p:cNvPr id="422" name="Google Shape;422;p11"/>
          <p:cNvSpPr txBox="1"/>
          <p:nvPr/>
        </p:nvSpPr>
        <p:spPr>
          <a:xfrm>
            <a:off x="8667750" y="7412831"/>
            <a:ext cx="4095750" cy="275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R5  6 · BAJO-MEDIO</a:t>
            </a:r>
            <a:endParaRPr/>
          </a:p>
        </p:txBody>
      </p:sp>
      <p:sp>
        <p:nvSpPr>
          <p:cNvPr id="423" name="Google Shape;423;p11"/>
          <p:cNvSpPr txBox="1"/>
          <p:nvPr/>
        </p:nvSpPr>
        <p:spPr>
          <a:xfrm>
            <a:off x="8667750" y="7784306"/>
            <a:ext cx="8096250" cy="28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Capa S3 compatible</a:t>
            </a:r>
            <a:endParaRPr/>
          </a:p>
        </p:txBody>
      </p:sp>
      <p:sp>
        <p:nvSpPr>
          <p:cNvPr id="424" name="Google Shape;424;p11"/>
          <p:cNvSpPr txBox="1"/>
          <p:nvPr/>
        </p:nvSpPr>
        <p:spPr>
          <a:xfrm>
            <a:off x="16764000" y="9744075"/>
            <a:ext cx="666750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09 / 13</a:t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8007399" y="3064192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8007399" y="4130992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FFDE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8007399" y="5197792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163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8007399" y="6288881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163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8007399" y="7355681"/>
            <a:ext cx="419100" cy="419100"/>
          </a:xfrm>
          <a:custGeom>
            <a:rect b="b" l="l" r="r" t="t"/>
            <a:pathLst>
              <a:path extrusionOk="0" h="558800" w="558800">
                <a:moveTo>
                  <a:pt x="279400" y="0"/>
                </a:moveTo>
                <a:cubicBezTo>
                  <a:pt x="433708" y="0"/>
                  <a:pt x="558800" y="125092"/>
                  <a:pt x="558800" y="279400"/>
                </a:cubicBezTo>
                <a:cubicBezTo>
                  <a:pt x="558800" y="433708"/>
                  <a:pt x="433708" y="558800"/>
                  <a:pt x="279400" y="558800"/>
                </a:cubicBezTo>
                <a:cubicBezTo>
                  <a:pt x="125092" y="558800"/>
                  <a:pt x="0" y="433708"/>
                  <a:pt x="0" y="279400"/>
                </a:cubicBezTo>
                <a:cubicBezTo>
                  <a:pt x="0" y="125092"/>
                  <a:pt x="125092" y="0"/>
                  <a:pt x="2794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Seguridad</a:t>
            </a:r>
            <a:endParaRPr/>
          </a:p>
        </p:txBody>
      </p:sp>
      <p:grpSp>
        <p:nvGrpSpPr>
          <p:cNvPr id="435" name="Google Shape;435;p12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436" name="Google Shape;436;p12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37" name="Google Shape;437;p12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p12"/>
          <p:cNvSpPr/>
          <p:nvPr/>
        </p:nvSpPr>
        <p:spPr>
          <a:xfrm>
            <a:off x="1714500" y="2571750"/>
            <a:ext cx="5429250" cy="5429250"/>
          </a:xfrm>
          <a:custGeom>
            <a:rect b="b" l="l" r="r" t="t"/>
            <a:pathLst>
              <a:path extrusionOk="0" h="7239000" w="7239000">
                <a:moveTo>
                  <a:pt x="3619500" y="0"/>
                </a:moveTo>
                <a:cubicBezTo>
                  <a:pt x="5618495" y="0"/>
                  <a:pt x="7239000" y="1620505"/>
                  <a:pt x="7239000" y="3619500"/>
                </a:cubicBezTo>
                <a:cubicBezTo>
                  <a:pt x="7239000" y="5618495"/>
                  <a:pt x="5618495" y="7239000"/>
                  <a:pt x="3619500" y="7239000"/>
                </a:cubicBezTo>
                <a:cubicBezTo>
                  <a:pt x="1620505" y="7239000"/>
                  <a:pt x="0" y="5618495"/>
                  <a:pt x="0" y="3619500"/>
                </a:cubicBezTo>
                <a:cubicBezTo>
                  <a:pt x="0" y="1620505"/>
                  <a:pt x="1620505" y="0"/>
                  <a:pt x="36195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2381250" y="3238500"/>
            <a:ext cx="4095750" cy="4095750"/>
          </a:xfrm>
          <a:custGeom>
            <a:rect b="b" l="l" r="r" t="t"/>
            <a:pathLst>
              <a:path extrusionOk="0" h="5461000" w="5461000">
                <a:moveTo>
                  <a:pt x="2730500" y="0"/>
                </a:moveTo>
                <a:cubicBezTo>
                  <a:pt x="4238513" y="0"/>
                  <a:pt x="5461000" y="1222487"/>
                  <a:pt x="5461000" y="2730500"/>
                </a:cubicBezTo>
                <a:cubicBezTo>
                  <a:pt x="5461000" y="4238513"/>
                  <a:pt x="4238513" y="5461000"/>
                  <a:pt x="2730500" y="5461000"/>
                </a:cubicBezTo>
                <a:cubicBezTo>
                  <a:pt x="1222487" y="5461000"/>
                  <a:pt x="0" y="4238513"/>
                  <a:pt x="0" y="2730500"/>
                </a:cubicBezTo>
                <a:cubicBezTo>
                  <a:pt x="0" y="1222487"/>
                  <a:pt x="1222487" y="0"/>
                  <a:pt x="2730500" y="0"/>
                </a:cubicBezTo>
                <a:close/>
              </a:path>
            </a:pathLst>
          </a:cu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3048000" y="3905250"/>
            <a:ext cx="2762250" cy="2762250"/>
          </a:xfrm>
          <a:custGeom>
            <a:rect b="b" l="l" r="r" t="t"/>
            <a:pathLst>
              <a:path extrusionOk="0" h="3683000" w="3683000">
                <a:moveTo>
                  <a:pt x="1841500" y="0"/>
                </a:moveTo>
                <a:cubicBezTo>
                  <a:pt x="2858532" y="0"/>
                  <a:pt x="3683000" y="824468"/>
                  <a:pt x="3683000" y="1841500"/>
                </a:cubicBezTo>
                <a:cubicBezTo>
                  <a:pt x="3683000" y="2858532"/>
                  <a:pt x="2858532" y="3683000"/>
                  <a:pt x="1841500" y="3683000"/>
                </a:cubicBezTo>
                <a:cubicBezTo>
                  <a:pt x="824468" y="3683000"/>
                  <a:pt x="0" y="2858532"/>
                  <a:pt x="0" y="1841500"/>
                </a:cubicBezTo>
                <a:cubicBezTo>
                  <a:pt x="0" y="824468"/>
                  <a:pt x="824468" y="0"/>
                  <a:pt x="1841500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 txBox="1"/>
          <p:nvPr/>
        </p:nvSpPr>
        <p:spPr>
          <a:xfrm>
            <a:off x="3495675" y="3009900"/>
            <a:ext cx="1905000" cy="543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CI/CD</a:t>
            </a:r>
            <a:endParaRPr/>
          </a:p>
        </p:txBody>
      </p:sp>
      <p:sp>
        <p:nvSpPr>
          <p:cNvPr id="442" name="Google Shape;442;p12"/>
          <p:cNvSpPr txBox="1"/>
          <p:nvPr/>
        </p:nvSpPr>
        <p:spPr>
          <a:xfrm>
            <a:off x="3429000" y="4429125"/>
            <a:ext cx="2095500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63D2A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  <a:p>
            <a:pPr indent="0" lvl="0" marL="0" marR="0" rtl="0" algn="ctr">
              <a:lnSpc>
                <a:spcPct val="10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63D2A"/>
                </a:solidFill>
                <a:latin typeface="Montserrat"/>
                <a:ea typeface="Montserrat"/>
                <a:cs typeface="Montserrat"/>
                <a:sym typeface="Montserrat"/>
              </a:rPr>
              <a:t>MIDDLEWARE</a:t>
            </a:r>
            <a:endParaRPr/>
          </a:p>
        </p:txBody>
      </p:sp>
      <p:sp>
        <p:nvSpPr>
          <p:cNvPr id="443" name="Google Shape;443;p12"/>
          <p:cNvSpPr txBox="1"/>
          <p:nvPr/>
        </p:nvSpPr>
        <p:spPr>
          <a:xfrm>
            <a:off x="3476625" y="5229225"/>
            <a:ext cx="1905000" cy="625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  <a:p>
            <a:pPr indent="0" lvl="0" marL="0" marR="0" rtl="0" algn="ctr">
              <a:lnSpc>
                <a:spcPct val="104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RLS</a:t>
            </a:r>
            <a:endParaRPr/>
          </a:p>
        </p:txBody>
      </p:sp>
      <p:sp>
        <p:nvSpPr>
          <p:cNvPr id="444" name="Google Shape;444;p12"/>
          <p:cNvSpPr txBox="1"/>
          <p:nvPr/>
        </p:nvSpPr>
        <p:spPr>
          <a:xfrm>
            <a:off x="8572500" y="2581275"/>
            <a:ext cx="6667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PRIVACIDAD POR DISEÑO</a:t>
            </a:r>
            <a:endParaRPr/>
          </a:p>
        </p:txBody>
      </p:sp>
      <p:sp>
        <p:nvSpPr>
          <p:cNvPr id="445" name="Google Shape;445;p12"/>
          <p:cNvSpPr txBox="1"/>
          <p:nvPr/>
        </p:nvSpPr>
        <p:spPr>
          <a:xfrm>
            <a:off x="8572500" y="3076575"/>
            <a:ext cx="7620000" cy="8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Catálogo · revelación selectiva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consentimiento · anonimización</a:t>
            </a:r>
            <a:endParaRPr/>
          </a:p>
        </p:txBody>
      </p:sp>
      <p:sp>
        <p:nvSpPr>
          <p:cNvPr id="446" name="Google Shape;446;p12"/>
          <p:cNvSpPr txBox="1"/>
          <p:nvPr/>
        </p:nvSpPr>
        <p:spPr>
          <a:xfrm>
            <a:off x="8572500" y="4867275"/>
            <a:ext cx="6667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CONTROLES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8572500" y="5334000"/>
            <a:ext cx="8096250" cy="817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TLS 1.3   AES-256   Argon2 / BCrypt</a:t>
            </a:r>
            <a:endParaRPr/>
          </a:p>
          <a:p>
            <a:pPr indent="0" lvl="0" marL="0" marR="0" rtl="0" algn="l">
              <a:lnSpc>
                <a:spcPct val="15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5" u="none" cap="none" strike="noStrike">
                <a:solidFill>
                  <a:srgbClr val="17211C"/>
                </a:solidFill>
                <a:latin typeface="DM Sans"/>
                <a:ea typeface="DM Sans"/>
                <a:cs typeface="DM Sans"/>
                <a:sym typeface="DM Sans"/>
              </a:rPr>
              <a:t>URLs firmadas   RBAC   logs auditables</a:t>
            </a:r>
            <a:endParaRPr/>
          </a:p>
        </p:txBody>
      </p:sp>
      <p:sp>
        <p:nvSpPr>
          <p:cNvPr id="448" name="Google Shape;448;p12"/>
          <p:cNvSpPr txBox="1"/>
          <p:nvPr/>
        </p:nvSpPr>
        <p:spPr>
          <a:xfrm>
            <a:off x="1524000" y="8296275"/>
            <a:ext cx="15240000" cy="28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Ley 19.628  ·  Ley 21.719 (1 dic 2026)  ·  ISO 27001  ·  OWASP Top 10 / ASVS  ·  Privacy by Design</a:t>
            </a:r>
            <a:endParaRPr/>
          </a:p>
        </p:txBody>
      </p:sp>
      <p:sp>
        <p:nvSpPr>
          <p:cNvPr id="449" name="Google Shape;449;p12"/>
          <p:cNvSpPr txBox="1"/>
          <p:nvPr/>
        </p:nvSpPr>
        <p:spPr>
          <a:xfrm>
            <a:off x="16764000" y="9725025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10 / 13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13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455" name="Google Shape;455;p13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56" name="Google Shape;456;p13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7" name="Google Shape;457;p13"/>
          <p:cNvSpPr/>
          <p:nvPr/>
        </p:nvSpPr>
        <p:spPr>
          <a:xfrm>
            <a:off x="497500" y="591718"/>
            <a:ext cx="17293000" cy="9695282"/>
          </a:xfrm>
          <a:custGeom>
            <a:rect b="b" l="l" r="r" t="t"/>
            <a:pathLst>
              <a:path extrusionOk="0" h="9695282" w="17293000">
                <a:moveTo>
                  <a:pt x="0" y="0"/>
                </a:moveTo>
                <a:lnTo>
                  <a:pt x="17293000" y="0"/>
                </a:lnTo>
                <a:lnTo>
                  <a:pt x="17293000" y="9695282"/>
                </a:lnTo>
                <a:lnTo>
                  <a:pt x="0" y="9695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2370"/>
            </a:stretch>
          </a:blipFill>
          <a:ln>
            <a:noFill/>
          </a:ln>
        </p:spPr>
      </p:sp>
      <p:sp>
        <p:nvSpPr>
          <p:cNvPr id="458" name="Google Shape;458;p13"/>
          <p:cNvSpPr txBox="1"/>
          <p:nvPr/>
        </p:nvSpPr>
        <p:spPr>
          <a:xfrm>
            <a:off x="696304" y="161925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Modelo de negocio</a:t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16764000" y="9725025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11 /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14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465" name="Google Shape;465;p14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66" name="Google Shape;466;p14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14"/>
          <p:cNvSpPr/>
          <p:nvPr/>
        </p:nvSpPr>
        <p:spPr>
          <a:xfrm>
            <a:off x="116546" y="765084"/>
            <a:ext cx="18054909" cy="9521916"/>
          </a:xfrm>
          <a:custGeom>
            <a:rect b="b" l="l" r="r" t="t"/>
            <a:pathLst>
              <a:path extrusionOk="0" h="9521916" w="18054909">
                <a:moveTo>
                  <a:pt x="0" y="0"/>
                </a:moveTo>
                <a:lnTo>
                  <a:pt x="18054908" y="0"/>
                </a:lnTo>
                <a:lnTo>
                  <a:pt x="18054908" y="9521916"/>
                </a:lnTo>
                <a:lnTo>
                  <a:pt x="0" y="952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15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473" name="Google Shape;473;p15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74" name="Google Shape;474;p15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5" name="Google Shape;475;p15"/>
          <p:cNvSpPr/>
          <p:nvPr/>
        </p:nvSpPr>
        <p:spPr>
          <a:xfrm>
            <a:off x="913581" y="524848"/>
            <a:ext cx="16345719" cy="9762152"/>
          </a:xfrm>
          <a:custGeom>
            <a:rect b="b" l="l" r="r" t="t"/>
            <a:pathLst>
              <a:path extrusionOk="0" h="9762152" w="16345719">
                <a:moveTo>
                  <a:pt x="0" y="0"/>
                </a:moveTo>
                <a:lnTo>
                  <a:pt x="16345719" y="0"/>
                </a:lnTo>
                <a:lnTo>
                  <a:pt x="16345719" y="9762152"/>
                </a:lnTo>
                <a:lnTo>
                  <a:pt x="0" y="9762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16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481" name="Google Shape;481;p16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82" name="Google Shape;482;p16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6"/>
          <p:cNvSpPr/>
          <p:nvPr/>
        </p:nvSpPr>
        <p:spPr>
          <a:xfrm>
            <a:off x="784991" y="291424"/>
            <a:ext cx="16718018" cy="9995576"/>
          </a:xfrm>
          <a:custGeom>
            <a:rect b="b" l="l" r="r" t="t"/>
            <a:pathLst>
              <a:path extrusionOk="0" h="9995576" w="16718018">
                <a:moveTo>
                  <a:pt x="0" y="0"/>
                </a:moveTo>
                <a:lnTo>
                  <a:pt x="16718018" y="0"/>
                </a:lnTo>
                <a:lnTo>
                  <a:pt x="16718018" y="9995576"/>
                </a:lnTo>
                <a:lnTo>
                  <a:pt x="0" y="9995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17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489" name="Google Shape;489;p17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90" name="Google Shape;490;p17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7"/>
          <p:cNvSpPr/>
          <p:nvPr/>
        </p:nvSpPr>
        <p:spPr>
          <a:xfrm>
            <a:off x="839065" y="383549"/>
            <a:ext cx="16609869" cy="9903451"/>
          </a:xfrm>
          <a:custGeom>
            <a:rect b="b" l="l" r="r" t="t"/>
            <a:pathLst>
              <a:path extrusionOk="0" h="9903451" w="16609869">
                <a:moveTo>
                  <a:pt x="0" y="0"/>
                </a:moveTo>
                <a:lnTo>
                  <a:pt x="16609870" y="0"/>
                </a:lnTo>
                <a:lnTo>
                  <a:pt x="16609870" y="9903451"/>
                </a:lnTo>
                <a:lnTo>
                  <a:pt x="0" y="99034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18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497" name="Google Shape;497;p18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98" name="Google Shape;498;p18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9" name="Google Shape;499;p18"/>
          <p:cNvSpPr/>
          <p:nvPr/>
        </p:nvSpPr>
        <p:spPr>
          <a:xfrm>
            <a:off x="832499" y="375719"/>
            <a:ext cx="16623001" cy="9911281"/>
          </a:xfrm>
          <a:custGeom>
            <a:rect b="b" l="l" r="r" t="t"/>
            <a:pathLst>
              <a:path extrusionOk="0" h="9911281" w="16623001">
                <a:moveTo>
                  <a:pt x="0" y="0"/>
                </a:moveTo>
                <a:lnTo>
                  <a:pt x="16623002" y="0"/>
                </a:lnTo>
                <a:lnTo>
                  <a:pt x="16623002" y="9911281"/>
                </a:lnTo>
                <a:lnTo>
                  <a:pt x="0" y="9911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19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505" name="Google Shape;505;p19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506" name="Google Shape;506;p19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19"/>
          <p:cNvSpPr/>
          <p:nvPr/>
        </p:nvSpPr>
        <p:spPr>
          <a:xfrm>
            <a:off x="559743" y="474167"/>
            <a:ext cx="4755801" cy="9812833"/>
          </a:xfrm>
          <a:custGeom>
            <a:rect b="b" l="l" r="r" t="t"/>
            <a:pathLst>
              <a:path extrusionOk="0" h="9812833" w="4755801">
                <a:moveTo>
                  <a:pt x="0" y="0"/>
                </a:moveTo>
                <a:lnTo>
                  <a:pt x="4755801" y="0"/>
                </a:lnTo>
                <a:lnTo>
                  <a:pt x="4755801" y="9812833"/>
                </a:lnTo>
                <a:lnTo>
                  <a:pt x="0" y="9812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p19"/>
          <p:cNvSpPr/>
          <p:nvPr/>
        </p:nvSpPr>
        <p:spPr>
          <a:xfrm>
            <a:off x="6772869" y="474167"/>
            <a:ext cx="4742261" cy="9812833"/>
          </a:xfrm>
          <a:custGeom>
            <a:rect b="b" l="l" r="r" t="t"/>
            <a:pathLst>
              <a:path extrusionOk="0" h="9812833" w="4742261">
                <a:moveTo>
                  <a:pt x="0" y="0"/>
                </a:moveTo>
                <a:lnTo>
                  <a:pt x="4742262" y="0"/>
                </a:lnTo>
                <a:lnTo>
                  <a:pt x="4742262" y="9812833"/>
                </a:lnTo>
                <a:lnTo>
                  <a:pt x="0" y="9812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p19"/>
          <p:cNvSpPr/>
          <p:nvPr/>
        </p:nvSpPr>
        <p:spPr>
          <a:xfrm>
            <a:off x="12972377" y="683324"/>
            <a:ext cx="4721210" cy="9603676"/>
          </a:xfrm>
          <a:custGeom>
            <a:rect b="b" l="l" r="r" t="t"/>
            <a:pathLst>
              <a:path extrusionOk="0" h="9603676" w="4721210">
                <a:moveTo>
                  <a:pt x="0" y="0"/>
                </a:moveTo>
                <a:lnTo>
                  <a:pt x="4721211" y="0"/>
                </a:lnTo>
                <a:lnTo>
                  <a:pt x="4721211" y="9603676"/>
                </a:lnTo>
                <a:lnTo>
                  <a:pt x="0" y="9603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8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20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/>
          <p:cNvSpPr/>
          <p:nvPr/>
        </p:nvSpPr>
        <p:spPr>
          <a:xfrm>
            <a:off x="3408189" y="652596"/>
            <a:ext cx="4583532" cy="9634404"/>
          </a:xfrm>
          <a:custGeom>
            <a:rect b="b" l="l" r="r" t="t"/>
            <a:pathLst>
              <a:path extrusionOk="0" h="9634404" w="4583532">
                <a:moveTo>
                  <a:pt x="0" y="0"/>
                </a:moveTo>
                <a:lnTo>
                  <a:pt x="4583532" y="0"/>
                </a:lnTo>
                <a:lnTo>
                  <a:pt x="4583532" y="9634404"/>
                </a:lnTo>
                <a:lnTo>
                  <a:pt x="0" y="9634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20"/>
          <p:cNvSpPr/>
          <p:nvPr/>
        </p:nvSpPr>
        <p:spPr>
          <a:xfrm>
            <a:off x="9861492" y="652596"/>
            <a:ext cx="4588665" cy="9634404"/>
          </a:xfrm>
          <a:custGeom>
            <a:rect b="b" l="l" r="r" t="t"/>
            <a:pathLst>
              <a:path extrusionOk="0" h="9634404" w="4588665">
                <a:moveTo>
                  <a:pt x="0" y="0"/>
                </a:moveTo>
                <a:lnTo>
                  <a:pt x="4588665" y="0"/>
                </a:lnTo>
                <a:lnTo>
                  <a:pt x="4588665" y="9634404"/>
                </a:lnTo>
                <a:lnTo>
                  <a:pt x="0" y="9634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"/>
          <p:cNvSpPr txBox="1"/>
          <p:nvPr/>
        </p:nvSpPr>
        <p:spPr>
          <a:xfrm>
            <a:off x="876300" y="933450"/>
            <a:ext cx="142875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Conclusión</a:t>
            </a:r>
            <a:endParaRPr/>
          </a:p>
        </p:txBody>
      </p:sp>
      <p:grpSp>
        <p:nvGrpSpPr>
          <p:cNvPr id="524" name="Google Shape;524;p21"/>
          <p:cNvGrpSpPr/>
          <p:nvPr/>
        </p:nvGrpSpPr>
        <p:grpSpPr>
          <a:xfrm>
            <a:off x="0" y="-28575"/>
            <a:ext cx="18288000" cy="123825"/>
            <a:chOff x="0" y="-38100"/>
            <a:chExt cx="24384000" cy="165100"/>
          </a:xfrm>
        </p:grpSpPr>
        <p:sp>
          <p:nvSpPr>
            <p:cNvPr id="525" name="Google Shape;525;p21"/>
            <p:cNvSpPr/>
            <p:nvPr/>
          </p:nvSpPr>
          <p:spPr>
            <a:xfrm>
              <a:off x="0" y="0"/>
              <a:ext cx="24384000" cy="127000"/>
            </a:xfrm>
            <a:custGeom>
              <a:rect b="b" l="l" r="r" t="t"/>
              <a:pathLst>
                <a:path extrusionOk="0"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526" name="Google Shape;526;p21"/>
            <p:cNvSpPr txBox="1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7" name="Google Shape;527;p21"/>
          <p:cNvSpPr/>
          <p:nvPr/>
        </p:nvSpPr>
        <p:spPr>
          <a:xfrm>
            <a:off x="952500" y="3571875"/>
            <a:ext cx="4857750" cy="2238375"/>
          </a:xfrm>
          <a:custGeom>
            <a:rect b="b" l="l" r="r" t="t"/>
            <a:pathLst>
              <a:path extrusionOk="0" h="2984500" w="6477000">
                <a:moveTo>
                  <a:pt x="44824" y="0"/>
                </a:moveTo>
                <a:lnTo>
                  <a:pt x="6432176" y="0"/>
                </a:lnTo>
                <a:cubicBezTo>
                  <a:pt x="6444064" y="0"/>
                  <a:pt x="6455465" y="4722"/>
                  <a:pt x="6463871" y="13129"/>
                </a:cubicBezTo>
                <a:cubicBezTo>
                  <a:pt x="6472277" y="21535"/>
                  <a:pt x="6477000" y="32936"/>
                  <a:pt x="6477000" y="44824"/>
                </a:cubicBezTo>
                <a:lnTo>
                  <a:pt x="6477000" y="2939677"/>
                </a:lnTo>
                <a:cubicBezTo>
                  <a:pt x="6477000" y="2951564"/>
                  <a:pt x="6472277" y="2962965"/>
                  <a:pt x="6463871" y="2971372"/>
                </a:cubicBezTo>
                <a:cubicBezTo>
                  <a:pt x="6455465" y="2979778"/>
                  <a:pt x="6444064" y="2984500"/>
                  <a:pt x="6432176" y="2984500"/>
                </a:cubicBezTo>
                <a:lnTo>
                  <a:pt x="44824" y="2984500"/>
                </a:lnTo>
                <a:cubicBezTo>
                  <a:pt x="32936" y="2984500"/>
                  <a:pt x="21535" y="2979778"/>
                  <a:pt x="13129" y="2971372"/>
                </a:cubicBezTo>
                <a:cubicBezTo>
                  <a:pt x="4722" y="2962965"/>
                  <a:pt x="0" y="2951564"/>
                  <a:pt x="0" y="2939677"/>
                </a:cubicBezTo>
                <a:lnTo>
                  <a:pt x="0" y="44824"/>
                </a:lnTo>
                <a:cubicBezTo>
                  <a:pt x="0" y="32936"/>
                  <a:pt x="4722" y="21535"/>
                  <a:pt x="13129" y="13129"/>
                </a:cubicBezTo>
                <a:cubicBezTo>
                  <a:pt x="21535" y="4722"/>
                  <a:pt x="32936" y="0"/>
                  <a:pt x="44824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1"/>
          <p:cNvSpPr/>
          <p:nvPr/>
        </p:nvSpPr>
        <p:spPr>
          <a:xfrm>
            <a:off x="6715125" y="3571875"/>
            <a:ext cx="4857750" cy="2238375"/>
          </a:xfrm>
          <a:custGeom>
            <a:rect b="b" l="l" r="r" t="t"/>
            <a:pathLst>
              <a:path extrusionOk="0" h="2984500" w="6477000">
                <a:moveTo>
                  <a:pt x="44824" y="0"/>
                </a:moveTo>
                <a:lnTo>
                  <a:pt x="6432176" y="0"/>
                </a:lnTo>
                <a:cubicBezTo>
                  <a:pt x="6444064" y="0"/>
                  <a:pt x="6455465" y="4722"/>
                  <a:pt x="6463871" y="13129"/>
                </a:cubicBezTo>
                <a:cubicBezTo>
                  <a:pt x="6472277" y="21535"/>
                  <a:pt x="6477000" y="32936"/>
                  <a:pt x="6477000" y="44824"/>
                </a:cubicBezTo>
                <a:lnTo>
                  <a:pt x="6477000" y="2939677"/>
                </a:lnTo>
                <a:cubicBezTo>
                  <a:pt x="6477000" y="2951564"/>
                  <a:pt x="6472277" y="2962965"/>
                  <a:pt x="6463871" y="2971372"/>
                </a:cubicBezTo>
                <a:cubicBezTo>
                  <a:pt x="6455465" y="2979778"/>
                  <a:pt x="6444064" y="2984500"/>
                  <a:pt x="6432176" y="2984500"/>
                </a:cubicBezTo>
                <a:lnTo>
                  <a:pt x="44824" y="2984500"/>
                </a:lnTo>
                <a:cubicBezTo>
                  <a:pt x="32936" y="2984500"/>
                  <a:pt x="21535" y="2979778"/>
                  <a:pt x="13129" y="2971372"/>
                </a:cubicBezTo>
                <a:cubicBezTo>
                  <a:pt x="4722" y="2962965"/>
                  <a:pt x="0" y="2951564"/>
                  <a:pt x="0" y="2939677"/>
                </a:cubicBezTo>
                <a:lnTo>
                  <a:pt x="0" y="44824"/>
                </a:lnTo>
                <a:cubicBezTo>
                  <a:pt x="0" y="32936"/>
                  <a:pt x="4722" y="21535"/>
                  <a:pt x="13129" y="13129"/>
                </a:cubicBezTo>
                <a:cubicBezTo>
                  <a:pt x="21535" y="4722"/>
                  <a:pt x="32936" y="0"/>
                  <a:pt x="44824" y="0"/>
                </a:cubicBezTo>
                <a:close/>
              </a:path>
            </a:pathLst>
          </a:custGeom>
          <a:solidFill>
            <a:srgbClr val="F7F9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"/>
          <p:cNvSpPr/>
          <p:nvPr/>
        </p:nvSpPr>
        <p:spPr>
          <a:xfrm>
            <a:off x="12477750" y="3571875"/>
            <a:ext cx="4857750" cy="2238375"/>
          </a:xfrm>
          <a:custGeom>
            <a:rect b="b" l="l" r="r" t="t"/>
            <a:pathLst>
              <a:path extrusionOk="0" h="2984500" w="6477000">
                <a:moveTo>
                  <a:pt x="44824" y="0"/>
                </a:moveTo>
                <a:lnTo>
                  <a:pt x="6432176" y="0"/>
                </a:lnTo>
                <a:cubicBezTo>
                  <a:pt x="6444064" y="0"/>
                  <a:pt x="6455465" y="4722"/>
                  <a:pt x="6463871" y="13129"/>
                </a:cubicBezTo>
                <a:cubicBezTo>
                  <a:pt x="6472277" y="21535"/>
                  <a:pt x="6477000" y="32936"/>
                  <a:pt x="6477000" y="44824"/>
                </a:cubicBezTo>
                <a:lnTo>
                  <a:pt x="6477000" y="2939677"/>
                </a:lnTo>
                <a:cubicBezTo>
                  <a:pt x="6477000" y="2951564"/>
                  <a:pt x="6472277" y="2962965"/>
                  <a:pt x="6463871" y="2971372"/>
                </a:cubicBezTo>
                <a:cubicBezTo>
                  <a:pt x="6455465" y="2979778"/>
                  <a:pt x="6444064" y="2984500"/>
                  <a:pt x="6432176" y="2984500"/>
                </a:cubicBezTo>
                <a:lnTo>
                  <a:pt x="44824" y="2984500"/>
                </a:lnTo>
                <a:cubicBezTo>
                  <a:pt x="32936" y="2984500"/>
                  <a:pt x="21535" y="2979778"/>
                  <a:pt x="13129" y="2971372"/>
                </a:cubicBezTo>
                <a:cubicBezTo>
                  <a:pt x="4722" y="2962965"/>
                  <a:pt x="0" y="2951564"/>
                  <a:pt x="0" y="2939677"/>
                </a:cubicBezTo>
                <a:lnTo>
                  <a:pt x="0" y="44824"/>
                </a:lnTo>
                <a:cubicBezTo>
                  <a:pt x="0" y="32936"/>
                  <a:pt x="4722" y="21535"/>
                  <a:pt x="13129" y="13129"/>
                </a:cubicBezTo>
                <a:cubicBezTo>
                  <a:pt x="21535" y="4722"/>
                  <a:pt x="32936" y="0"/>
                  <a:pt x="44824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0" name="Google Shape;530;p21"/>
          <p:cNvCxnSpPr/>
          <p:nvPr/>
        </p:nvCxnSpPr>
        <p:spPr>
          <a:xfrm>
            <a:off x="5905500" y="4695825"/>
            <a:ext cx="619125" cy="0"/>
          </a:xfrm>
          <a:prstGeom prst="straightConnector1">
            <a:avLst/>
          </a:prstGeom>
          <a:noFill/>
          <a:ln cap="rnd" cmpd="sng" w="38100">
            <a:solidFill>
              <a:srgbClr val="FF6B4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31" name="Google Shape;531;p21"/>
          <p:cNvCxnSpPr/>
          <p:nvPr/>
        </p:nvCxnSpPr>
        <p:spPr>
          <a:xfrm>
            <a:off x="11668125" y="4695825"/>
            <a:ext cx="619125" cy="0"/>
          </a:xfrm>
          <a:prstGeom prst="straightConnector1">
            <a:avLst/>
          </a:prstGeom>
          <a:noFill/>
          <a:ln cap="rnd" cmpd="sng" w="38100">
            <a:solidFill>
              <a:srgbClr val="FF6B4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32" name="Google Shape;532;p21"/>
          <p:cNvSpPr txBox="1"/>
          <p:nvPr/>
        </p:nvSpPr>
        <p:spPr>
          <a:xfrm>
            <a:off x="1476375" y="3962400"/>
            <a:ext cx="38100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ESCALABILIDAD</a:t>
            </a:r>
            <a:endParaRPr/>
          </a:p>
        </p:txBody>
      </p:sp>
      <p:sp>
        <p:nvSpPr>
          <p:cNvPr id="533" name="Google Shape;533;p21"/>
          <p:cNvSpPr txBox="1"/>
          <p:nvPr/>
        </p:nvSpPr>
        <p:spPr>
          <a:xfrm>
            <a:off x="1476375" y="4552950"/>
            <a:ext cx="4000500" cy="69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Tecnología SaaS</a:t>
            </a:r>
            <a:endParaRPr/>
          </a:p>
          <a:p>
            <a:pPr indent="0" lvl="0" marL="0" marR="0" rtl="0" algn="l">
              <a:lnSpc>
                <a:spcPct val="1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multi-institución</a:t>
            </a:r>
            <a:endParaRPr/>
          </a:p>
        </p:txBody>
      </p:sp>
      <p:sp>
        <p:nvSpPr>
          <p:cNvPr id="534" name="Google Shape;534;p21"/>
          <p:cNvSpPr txBox="1"/>
          <p:nvPr/>
        </p:nvSpPr>
        <p:spPr>
          <a:xfrm>
            <a:off x="7239000" y="3962400"/>
            <a:ext cx="38100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B4A"/>
                </a:solidFill>
                <a:latin typeface="DM Sans"/>
                <a:ea typeface="DM Sans"/>
                <a:cs typeface="DM Sans"/>
                <a:sym typeface="DM Sans"/>
              </a:rPr>
              <a:t>COMUNIDAD</a:t>
            </a:r>
            <a:endParaRPr/>
          </a:p>
        </p:txBody>
      </p:sp>
      <p:sp>
        <p:nvSpPr>
          <p:cNvPr id="535" name="Google Shape;535;p21"/>
          <p:cNvSpPr txBox="1"/>
          <p:nvPr/>
        </p:nvSpPr>
        <p:spPr>
          <a:xfrm>
            <a:off x="7239000" y="4552950"/>
            <a:ext cx="4095750" cy="69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Sustentabilidad y</a:t>
            </a:r>
            <a:endParaRPr/>
          </a:p>
          <a:p>
            <a:pPr indent="0" lvl="0" marL="0" marR="0" rtl="0" algn="l">
              <a:lnSpc>
                <a:spcPct val="1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cultura de restitución</a:t>
            </a:r>
            <a:endParaRPr/>
          </a:p>
        </p:txBody>
      </p:sp>
      <p:sp>
        <p:nvSpPr>
          <p:cNvPr id="536" name="Google Shape;536;p21"/>
          <p:cNvSpPr txBox="1"/>
          <p:nvPr/>
        </p:nvSpPr>
        <p:spPr>
          <a:xfrm>
            <a:off x="13049250" y="3962400"/>
            <a:ext cx="38100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CONFIANZA</a:t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13049250" y="4552950"/>
            <a:ext cx="4000500" cy="697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Seguridad y</a:t>
            </a:r>
            <a:endParaRPr/>
          </a:p>
          <a:p>
            <a:pPr indent="0" lvl="0" marL="0" marR="0" rtl="0" algn="l">
              <a:lnSpc>
                <a:spcPct val="10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5" u="none" cap="none" strike="noStrike">
                <a:solidFill>
                  <a:srgbClr val="17211C"/>
                </a:solidFill>
                <a:latin typeface="Montserrat"/>
                <a:ea typeface="Montserrat"/>
                <a:cs typeface="Montserrat"/>
                <a:sym typeface="Montserrat"/>
              </a:rPr>
              <a:t>cumplimiento legal</a:t>
            </a:r>
            <a:endParaRPr/>
          </a:p>
        </p:txBody>
      </p:sp>
      <p:sp>
        <p:nvSpPr>
          <p:cNvPr id="538" name="Google Shape;538;p21"/>
          <p:cNvSpPr txBox="1"/>
          <p:nvPr/>
        </p:nvSpPr>
        <p:spPr>
          <a:xfrm>
            <a:off x="5810250" y="6762750"/>
            <a:ext cx="6667500" cy="884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50" u="none" cap="none" strike="noStrike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rPr>
              <a:t>BackToMe</a:t>
            </a:r>
            <a:endParaRPr/>
          </a:p>
        </p:txBody>
      </p:sp>
      <p:sp>
        <p:nvSpPr>
          <p:cNvPr id="539" name="Google Shape;539;p21"/>
          <p:cNvSpPr txBox="1"/>
          <p:nvPr/>
        </p:nvSpPr>
        <p:spPr>
          <a:xfrm>
            <a:off x="16764000" y="9725025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6736C"/>
                </a:solidFill>
                <a:latin typeface="DM Sans"/>
                <a:ea typeface="DM Sans"/>
                <a:cs typeface="DM Sans"/>
                <a:sym typeface="DM Sans"/>
              </a:rPr>
              <a:t>13 / 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