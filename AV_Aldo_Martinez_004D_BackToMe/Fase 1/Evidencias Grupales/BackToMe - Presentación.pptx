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Montserrat Bold" charset="1" panose="00000800000000000000"/>
      <p:regular r:id="rId27"/>
    </p:embeddedFont>
    <p:embeddedFont>
      <p:font typeface="DM Sans Bold" charset="1" panose="00000000000000000000"/>
      <p:regular r:id="rId28"/>
    </p:embeddedFont>
    <p:embeddedFont>
      <p:font typeface="DM Sans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02403" y="3980974"/>
            <a:ext cx="9483194" cy="241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2"/>
              </a:lnSpc>
            </a:pPr>
            <a:r>
              <a:rPr lang="en-US" sz="6049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BackToMe</a:t>
            </a:r>
          </a:p>
          <a:p>
            <a:pPr algn="ctr">
              <a:lnSpc>
                <a:spcPts val="4252"/>
              </a:lnSpc>
            </a:pPr>
          </a:p>
          <a:p>
            <a:pPr algn="ctr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custodia y Devolución de objetos extraviados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85775"/>
            <a:ext cx="2095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FF6B4A"/>
                </a:solidFill>
                <a:latin typeface="DM Sans Bold"/>
                <a:ea typeface="DM Sans Bold"/>
                <a:cs typeface="DM Sans Bold"/>
                <a:sym typeface="DM Sans Bold"/>
              </a:rPr>
              <a:t>BACKTOME / CAPSTONE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611427"/>
            <a:ext cx="8777477" cy="164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Integrantes</a:t>
            </a:r>
          </a:p>
          <a:p>
            <a:pPr algn="l" marL="615321" indent="-307661" lvl="1">
              <a:lnSpc>
                <a:spcPts val="2992"/>
              </a:lnSpc>
              <a:buFont typeface="Arial"/>
              <a:buChar char="•"/>
            </a:pPr>
            <a:r>
              <a:rPr lang="en-US" b="true" sz="2850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Mauricio Urrutia</a:t>
            </a:r>
          </a:p>
          <a:p>
            <a:pPr algn="l" marL="615321" indent="-307661" lvl="1">
              <a:lnSpc>
                <a:spcPts val="2992"/>
              </a:lnSpc>
              <a:buFont typeface="Arial"/>
              <a:buChar char="•"/>
            </a:pPr>
            <a:r>
              <a:rPr lang="en-US" b="true" sz="2850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Lucero Leyva</a:t>
            </a:r>
          </a:p>
          <a:p>
            <a:pPr algn="l" marL="615321" indent="-307661" lvl="1">
              <a:lnSpc>
                <a:spcPts val="2992"/>
              </a:lnSpc>
              <a:buFont typeface="Arial"/>
              <a:buChar char="•"/>
            </a:pPr>
            <a:r>
              <a:rPr lang="en-US" b="true" sz="2850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Renato Caro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Índice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4629150" y="3362325"/>
            <a:ext cx="247650" cy="0"/>
          </a:xfrm>
          <a:prstGeom prst="line">
            <a:avLst/>
          </a:prstGeom>
          <a:ln cap="rnd" w="38100">
            <a:solidFill>
              <a:srgbClr val="DCE5D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8724900" y="3362325"/>
            <a:ext cx="247650" cy="0"/>
          </a:xfrm>
          <a:prstGeom prst="line">
            <a:avLst/>
          </a:prstGeom>
          <a:ln cap="rnd" w="38100">
            <a:solidFill>
              <a:srgbClr val="DCE5D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12820650" y="3362325"/>
            <a:ext cx="247650" cy="0"/>
          </a:xfrm>
          <a:prstGeom prst="line">
            <a:avLst/>
          </a:prstGeom>
          <a:ln cap="rnd" w="38100">
            <a:solidFill>
              <a:srgbClr val="DCE5D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4629150" y="5362575"/>
            <a:ext cx="247650" cy="0"/>
          </a:xfrm>
          <a:prstGeom prst="line">
            <a:avLst/>
          </a:prstGeom>
          <a:ln cap="rnd" w="38100">
            <a:solidFill>
              <a:srgbClr val="DCE5D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8724900" y="5362575"/>
            <a:ext cx="247650" cy="0"/>
          </a:xfrm>
          <a:prstGeom prst="line">
            <a:avLst/>
          </a:prstGeom>
          <a:ln cap="rnd" w="38100">
            <a:solidFill>
              <a:srgbClr val="DCE5D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12820650" y="5362575"/>
            <a:ext cx="247650" cy="0"/>
          </a:xfrm>
          <a:prstGeom prst="line">
            <a:avLst/>
          </a:prstGeom>
          <a:ln cap="rnd" w="38100">
            <a:solidFill>
              <a:srgbClr val="DCE5D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4629150" y="7362825"/>
            <a:ext cx="247650" cy="0"/>
          </a:xfrm>
          <a:prstGeom prst="line">
            <a:avLst/>
          </a:prstGeom>
          <a:ln cap="rnd" w="38100">
            <a:solidFill>
              <a:srgbClr val="DCE5D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8724900" y="7362825"/>
            <a:ext cx="247650" cy="0"/>
          </a:xfrm>
          <a:prstGeom prst="line">
            <a:avLst/>
          </a:prstGeom>
          <a:ln cap="rnd" w="38100">
            <a:solidFill>
              <a:srgbClr val="DCE5D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>
            <a:off x="12820650" y="7362825"/>
            <a:ext cx="247650" cy="0"/>
          </a:xfrm>
          <a:prstGeom prst="line">
            <a:avLst/>
          </a:prstGeom>
          <a:ln cap="rnd" w="38100">
            <a:solidFill>
              <a:srgbClr val="DCE5D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876300" y="2609850"/>
            <a:ext cx="3714750" cy="1504950"/>
            <a:chOff x="0" y="0"/>
            <a:chExt cx="4953000" cy="20066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30200" y="1019175"/>
              <a:ext cx="42418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Introducción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72050" y="2609850"/>
            <a:ext cx="3714750" cy="1504950"/>
            <a:chOff x="0" y="0"/>
            <a:chExt cx="4953000" cy="20066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30200" y="1019175"/>
              <a:ext cx="42418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Contexto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67800" y="2609850"/>
            <a:ext cx="3714750" cy="1504950"/>
            <a:chOff x="0" y="0"/>
            <a:chExt cx="4953000" cy="20066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30200" y="1019175"/>
              <a:ext cx="42418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Problemática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163550" y="2609850"/>
            <a:ext cx="3714750" cy="1504950"/>
            <a:chOff x="0" y="0"/>
            <a:chExt cx="4953000" cy="20066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30200" y="1019175"/>
              <a:ext cx="42418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Solución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6300" y="4610100"/>
            <a:ext cx="3714750" cy="1504950"/>
            <a:chOff x="0" y="0"/>
            <a:chExt cx="4953000" cy="20066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30200" y="1019175"/>
              <a:ext cx="4241800" cy="734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Metodología / Plan / Roles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972050" y="4610100"/>
            <a:ext cx="3714750" cy="1504950"/>
            <a:chOff x="0" y="0"/>
            <a:chExt cx="4953000" cy="20066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30200" y="1019175"/>
              <a:ext cx="4241800" cy="734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Mapa tecnológico / Arquitectura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067800" y="4610100"/>
            <a:ext cx="3714750" cy="1504950"/>
            <a:chOff x="0" y="0"/>
            <a:chExt cx="4953000" cy="200660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48" id="48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07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330200" y="1019175"/>
              <a:ext cx="42418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Competencias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63550" y="4610100"/>
            <a:ext cx="3714750" cy="1504950"/>
            <a:chOff x="0" y="0"/>
            <a:chExt cx="4953000" cy="2006600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53" id="53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08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30200" y="1019175"/>
              <a:ext cx="42418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Riesgos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76300" y="6610350"/>
            <a:ext cx="3714750" cy="1504950"/>
            <a:chOff x="0" y="0"/>
            <a:chExt cx="4953000" cy="2006600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58" id="58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09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30200" y="1019175"/>
              <a:ext cx="42418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Seguridad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972050" y="6610350"/>
            <a:ext cx="3714750" cy="1504950"/>
            <a:chOff x="0" y="0"/>
            <a:chExt cx="4953000" cy="20066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63" id="63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330200" y="1019175"/>
              <a:ext cx="42418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Modelo de negocio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067800" y="6610350"/>
            <a:ext cx="3714750" cy="1504950"/>
            <a:chOff x="0" y="0"/>
            <a:chExt cx="4953000" cy="2006600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68" id="68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11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330200" y="1019175"/>
              <a:ext cx="42418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Mockup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163550" y="6610350"/>
            <a:ext cx="3714750" cy="1504950"/>
            <a:chOff x="0" y="0"/>
            <a:chExt cx="4953000" cy="2006600"/>
          </a:xfrm>
        </p:grpSpPr>
        <p:grpSp>
          <p:nvGrpSpPr>
            <p:cNvPr name="Group 71" id="71"/>
            <p:cNvGrpSpPr/>
            <p:nvPr/>
          </p:nvGrpSpPr>
          <p:grpSpPr>
            <a:xfrm rot="0">
              <a:off x="0" y="0"/>
              <a:ext cx="4953000" cy="2006600"/>
              <a:chOff x="0" y="0"/>
              <a:chExt cx="4953000" cy="20066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4953000" cy="2006600"/>
              </a:xfrm>
              <a:custGeom>
                <a:avLst/>
                <a:gdLst/>
                <a:ahLst/>
                <a:cxnLst/>
                <a:rect r="r" b="b" t="t" l="l"/>
                <a:pathLst>
                  <a:path h="2006600" w="4953000">
                    <a:moveTo>
                      <a:pt x="58615" y="0"/>
                    </a:moveTo>
                    <a:lnTo>
                      <a:pt x="4894385" y="0"/>
                    </a:lnTo>
                    <a:cubicBezTo>
                      <a:pt x="4926757" y="0"/>
                      <a:pt x="4953000" y="26243"/>
                      <a:pt x="4953000" y="58615"/>
                    </a:cubicBezTo>
                    <a:lnTo>
                      <a:pt x="4953000" y="1947985"/>
                    </a:lnTo>
                    <a:cubicBezTo>
                      <a:pt x="4953000" y="1980357"/>
                      <a:pt x="4926757" y="2006600"/>
                      <a:pt x="4894385" y="2006600"/>
                    </a:cubicBezTo>
                    <a:lnTo>
                      <a:pt x="58615" y="2006600"/>
                    </a:lnTo>
                    <a:cubicBezTo>
                      <a:pt x="26243" y="2006600"/>
                      <a:pt x="0" y="1980357"/>
                      <a:pt x="0" y="1947985"/>
                    </a:cubicBezTo>
                    <a:lnTo>
                      <a:pt x="0" y="58615"/>
                    </a:lnTo>
                    <a:cubicBezTo>
                      <a:pt x="0" y="26243"/>
                      <a:pt x="26243" y="0"/>
                      <a:pt x="58615" y="0"/>
                    </a:cubicBezTo>
                    <a:close/>
                  </a:path>
                </a:pathLst>
              </a:custGeom>
              <a:solidFill>
                <a:srgbClr val="DCFCE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73" id="73"/>
            <p:cNvSpPr txBox="true"/>
            <p:nvPr/>
          </p:nvSpPr>
          <p:spPr>
            <a:xfrm rot="0">
              <a:off x="330200" y="371475"/>
              <a:ext cx="9144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12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330200" y="1019175"/>
              <a:ext cx="42418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Conclusión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6764000" y="9725025"/>
            <a:ext cx="666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01 / 13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6300" y="2571750"/>
            <a:ext cx="7239000" cy="5334000"/>
            <a:chOff x="0" y="0"/>
            <a:chExt cx="9652000" cy="711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9652000">
                  <a:moveTo>
                    <a:pt x="30079" y="0"/>
                  </a:moveTo>
                  <a:lnTo>
                    <a:pt x="9621921" y="0"/>
                  </a:lnTo>
                  <a:cubicBezTo>
                    <a:pt x="9629898" y="0"/>
                    <a:pt x="9637549" y="3169"/>
                    <a:pt x="9643190" y="8810"/>
                  </a:cubicBezTo>
                  <a:cubicBezTo>
                    <a:pt x="9648831" y="14451"/>
                    <a:pt x="9652000" y="22102"/>
                    <a:pt x="9652000" y="30079"/>
                  </a:cubicBezTo>
                  <a:lnTo>
                    <a:pt x="9652000" y="7081921"/>
                  </a:lnTo>
                  <a:cubicBezTo>
                    <a:pt x="9652000" y="7089898"/>
                    <a:pt x="9648831" y="7097549"/>
                    <a:pt x="9643190" y="7103190"/>
                  </a:cubicBezTo>
                  <a:cubicBezTo>
                    <a:pt x="9637549" y="7108831"/>
                    <a:pt x="9629898" y="7112000"/>
                    <a:pt x="9621921" y="7112000"/>
                  </a:cubicBezTo>
                  <a:lnTo>
                    <a:pt x="30079" y="7112000"/>
                  </a:lnTo>
                  <a:cubicBezTo>
                    <a:pt x="22102" y="7112000"/>
                    <a:pt x="14451" y="7108831"/>
                    <a:pt x="8810" y="7103190"/>
                  </a:cubicBezTo>
                  <a:cubicBezTo>
                    <a:pt x="3169" y="7097549"/>
                    <a:pt x="0" y="7089898"/>
                    <a:pt x="0" y="7081921"/>
                  </a:cubicBezTo>
                  <a:lnTo>
                    <a:pt x="0" y="30079"/>
                  </a:lnTo>
                  <a:cubicBezTo>
                    <a:pt x="0" y="22102"/>
                    <a:pt x="3169" y="14451"/>
                    <a:pt x="8810" y="8810"/>
                  </a:cubicBezTo>
                  <a:cubicBezTo>
                    <a:pt x="14451" y="3169"/>
                    <a:pt x="22102" y="0"/>
                    <a:pt x="3007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172700" y="2571750"/>
            <a:ext cx="7239000" cy="5334000"/>
            <a:chOff x="0" y="0"/>
            <a:chExt cx="9652000" cy="711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52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9652000">
                  <a:moveTo>
                    <a:pt x="30079" y="0"/>
                  </a:moveTo>
                  <a:lnTo>
                    <a:pt x="9621921" y="0"/>
                  </a:lnTo>
                  <a:cubicBezTo>
                    <a:pt x="9629898" y="0"/>
                    <a:pt x="9637549" y="3169"/>
                    <a:pt x="9643190" y="8810"/>
                  </a:cubicBezTo>
                  <a:cubicBezTo>
                    <a:pt x="9648831" y="14451"/>
                    <a:pt x="9652000" y="22102"/>
                    <a:pt x="9652000" y="30079"/>
                  </a:cubicBezTo>
                  <a:lnTo>
                    <a:pt x="9652000" y="7081921"/>
                  </a:lnTo>
                  <a:cubicBezTo>
                    <a:pt x="9652000" y="7089898"/>
                    <a:pt x="9648831" y="7097549"/>
                    <a:pt x="9643190" y="7103190"/>
                  </a:cubicBezTo>
                  <a:cubicBezTo>
                    <a:pt x="9637549" y="7108831"/>
                    <a:pt x="9629898" y="7112000"/>
                    <a:pt x="9621921" y="7112000"/>
                  </a:cubicBezTo>
                  <a:lnTo>
                    <a:pt x="30079" y="7112000"/>
                  </a:lnTo>
                  <a:cubicBezTo>
                    <a:pt x="22102" y="7112000"/>
                    <a:pt x="14451" y="7108831"/>
                    <a:pt x="8810" y="7103190"/>
                  </a:cubicBezTo>
                  <a:cubicBezTo>
                    <a:pt x="3169" y="7097549"/>
                    <a:pt x="0" y="7089898"/>
                    <a:pt x="0" y="7081921"/>
                  </a:cubicBezTo>
                  <a:lnTo>
                    <a:pt x="0" y="30079"/>
                  </a:lnTo>
                  <a:cubicBezTo>
                    <a:pt x="0" y="22102"/>
                    <a:pt x="3169" y="14451"/>
                    <a:pt x="8810" y="8810"/>
                  </a:cubicBezTo>
                  <a:cubicBezTo>
                    <a:pt x="14451" y="3169"/>
                    <a:pt x="22102" y="0"/>
                    <a:pt x="30079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57300" y="2800350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FF6B4A"/>
                </a:solidFill>
                <a:latin typeface="DM Sans Bold"/>
                <a:ea typeface="DM Sans Bold"/>
                <a:cs typeface="DM Sans Bold"/>
                <a:sym typeface="DM Sans Bold"/>
              </a:rPr>
              <a:t>PROCESO MANUAL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300" y="3381375"/>
            <a:ext cx="6286500" cy="77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9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Fragmentado. Informal. Difícil de auditar.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7300" y="4629150"/>
            <a:ext cx="5429250" cy="176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1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Libros de guardia</a:t>
            </a:r>
          </a:p>
          <a:p>
            <a:pPr algn="l">
              <a:lnSpc>
                <a:spcPts val="3588"/>
              </a:lnSpc>
            </a:pPr>
            <a:r>
              <a:rPr lang="en-US" sz="21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Grupos informales</a:t>
            </a:r>
          </a:p>
          <a:p>
            <a:pPr algn="l">
              <a:lnSpc>
                <a:spcPts val="3588"/>
              </a:lnSpc>
            </a:pPr>
            <a:r>
              <a:rPr lang="en-US" sz="21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Oficinas físicas</a:t>
            </a:r>
          </a:p>
          <a:p>
            <a:pPr algn="l">
              <a:lnSpc>
                <a:spcPts val="3588"/>
              </a:lnSpc>
            </a:pPr>
            <a:r>
              <a:rPr lang="en-US" sz="21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Datos expuestos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72750" y="2800350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22C55E"/>
                </a:solidFill>
                <a:latin typeface="DM Sans Bold"/>
                <a:ea typeface="DM Sans Bold"/>
                <a:cs typeface="DM Sans Bold"/>
                <a:sym typeface="DM Sans Bold"/>
              </a:rPr>
              <a:t>BACKTOME DIGITAL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72750" y="3381375"/>
            <a:ext cx="6191250" cy="77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9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Una plataforma. Cada entrega, verificable.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72750" y="4629150"/>
            <a:ext cx="5429250" cy="176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1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SaaS multi-tenant</a:t>
            </a:r>
          </a:p>
          <a:p>
            <a:pPr algn="l">
              <a:lnSpc>
                <a:spcPts val="3588"/>
              </a:lnSpc>
            </a:pPr>
            <a:r>
              <a:rPr lang="en-US" sz="21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PWA responsiva</a:t>
            </a:r>
          </a:p>
          <a:p>
            <a:pPr algn="l">
              <a:lnSpc>
                <a:spcPts val="3588"/>
              </a:lnSpc>
            </a:pPr>
            <a:r>
              <a:rPr lang="en-US" sz="21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QR opcional</a:t>
            </a:r>
          </a:p>
          <a:p>
            <a:pPr algn="l">
              <a:lnSpc>
                <a:spcPts val="3588"/>
              </a:lnSpc>
            </a:pPr>
            <a:r>
              <a:rPr lang="en-US" sz="21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Actas digitales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76500" y="8239125"/>
            <a:ext cx="13335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Computadores · teléfonos · llaves · credenciales · mochilas · documentos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382000" y="5191125"/>
            <a:ext cx="1428750" cy="0"/>
          </a:xfrm>
          <a:prstGeom prst="line">
            <a:avLst/>
          </a:prstGeom>
          <a:ln cap="rnd" w="38100">
            <a:solidFill>
              <a:srgbClr val="FF6B4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8" id="18"/>
          <p:cNvSpPr txBox="true"/>
          <p:nvPr/>
        </p:nvSpPr>
        <p:spPr>
          <a:xfrm rot="0">
            <a:off x="16764000" y="9744075"/>
            <a:ext cx="666750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b="true" sz="1425" spc="114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02 / 13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0" y="3714750"/>
            <a:ext cx="4572000" cy="2190750"/>
            <a:chOff x="0" y="0"/>
            <a:chExt cx="6096000" cy="292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96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096000">
                  <a:moveTo>
                    <a:pt x="105833" y="0"/>
                  </a:moveTo>
                  <a:lnTo>
                    <a:pt x="5990167" y="0"/>
                  </a:lnTo>
                  <a:cubicBezTo>
                    <a:pt x="6018235" y="0"/>
                    <a:pt x="6045155" y="11150"/>
                    <a:pt x="6065002" y="30998"/>
                  </a:cubicBezTo>
                  <a:cubicBezTo>
                    <a:pt x="6084850" y="50845"/>
                    <a:pt x="6096000" y="77765"/>
                    <a:pt x="6096000" y="105833"/>
                  </a:cubicBezTo>
                  <a:lnTo>
                    <a:pt x="6096000" y="2815167"/>
                  </a:lnTo>
                  <a:cubicBezTo>
                    <a:pt x="6096000" y="2843235"/>
                    <a:pt x="6084850" y="2870154"/>
                    <a:pt x="6065002" y="2890002"/>
                  </a:cubicBezTo>
                  <a:cubicBezTo>
                    <a:pt x="6045155" y="2909850"/>
                    <a:pt x="6018235" y="2921000"/>
                    <a:pt x="5990167" y="2921000"/>
                  </a:cubicBezTo>
                  <a:lnTo>
                    <a:pt x="105833" y="2921000"/>
                  </a:lnTo>
                  <a:cubicBezTo>
                    <a:pt x="77765" y="2921000"/>
                    <a:pt x="50845" y="2909850"/>
                    <a:pt x="30998" y="2890002"/>
                  </a:cubicBezTo>
                  <a:cubicBezTo>
                    <a:pt x="11150" y="2870154"/>
                    <a:pt x="0" y="2843235"/>
                    <a:pt x="0" y="2815167"/>
                  </a:cubicBezTo>
                  <a:lnTo>
                    <a:pt x="0" y="105833"/>
                  </a:lnTo>
                  <a:cubicBezTo>
                    <a:pt x="0" y="77765"/>
                    <a:pt x="11150" y="50845"/>
                    <a:pt x="30998" y="30998"/>
                  </a:cubicBezTo>
                  <a:cubicBezTo>
                    <a:pt x="50845" y="11150"/>
                    <a:pt x="77765" y="0"/>
                    <a:pt x="105833" y="0"/>
                  </a:cubicBezTo>
                  <a:close/>
                </a:path>
              </a:pathLst>
            </a:custGeom>
            <a:solidFill>
              <a:srgbClr val="22C55E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809750" y="2667000"/>
            <a:ext cx="4000500" cy="1333500"/>
            <a:chOff x="0" y="0"/>
            <a:chExt cx="5334000" cy="177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1723571"/>
                  </a:lnTo>
                  <a:cubicBezTo>
                    <a:pt x="5334000" y="1753632"/>
                    <a:pt x="5309631" y="1778000"/>
                    <a:pt x="5279572" y="1778000"/>
                  </a:cubicBezTo>
                  <a:lnTo>
                    <a:pt x="54429" y="1778000"/>
                  </a:lnTo>
                  <a:cubicBezTo>
                    <a:pt x="24369" y="1778000"/>
                    <a:pt x="0" y="1753632"/>
                    <a:pt x="0" y="1723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7F9F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809750" y="6191250"/>
            <a:ext cx="4000500" cy="1333500"/>
            <a:chOff x="0" y="0"/>
            <a:chExt cx="5334000" cy="177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1723571"/>
                  </a:lnTo>
                  <a:cubicBezTo>
                    <a:pt x="5334000" y="1753632"/>
                    <a:pt x="5309631" y="1778000"/>
                    <a:pt x="5279572" y="1778000"/>
                  </a:cubicBezTo>
                  <a:lnTo>
                    <a:pt x="54429" y="1778000"/>
                  </a:lnTo>
                  <a:cubicBezTo>
                    <a:pt x="24369" y="1778000"/>
                    <a:pt x="0" y="1753632"/>
                    <a:pt x="0" y="1723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7F9F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477750" y="6191250"/>
            <a:ext cx="4000500" cy="1333500"/>
            <a:chOff x="0" y="0"/>
            <a:chExt cx="5334000" cy="17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1723571"/>
                  </a:lnTo>
                  <a:cubicBezTo>
                    <a:pt x="5334000" y="1753632"/>
                    <a:pt x="5309631" y="1778000"/>
                    <a:pt x="5279572" y="1778000"/>
                  </a:cubicBezTo>
                  <a:lnTo>
                    <a:pt x="54429" y="1778000"/>
                  </a:lnTo>
                  <a:cubicBezTo>
                    <a:pt x="24369" y="1778000"/>
                    <a:pt x="0" y="1753632"/>
                    <a:pt x="0" y="1723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477750" y="2667000"/>
            <a:ext cx="4000500" cy="1333500"/>
            <a:chOff x="0" y="0"/>
            <a:chExt cx="5334000" cy="177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1723571"/>
                  </a:lnTo>
                  <a:cubicBezTo>
                    <a:pt x="5334000" y="1753632"/>
                    <a:pt x="5309631" y="1778000"/>
                    <a:pt x="5279572" y="1778000"/>
                  </a:cubicBezTo>
                  <a:lnTo>
                    <a:pt x="54429" y="1778000"/>
                  </a:lnTo>
                  <a:cubicBezTo>
                    <a:pt x="24369" y="1778000"/>
                    <a:pt x="0" y="1753632"/>
                    <a:pt x="0" y="1723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7F9F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AutoShape 16" id="16"/>
          <p:cNvSpPr/>
          <p:nvPr/>
        </p:nvSpPr>
        <p:spPr>
          <a:xfrm>
            <a:off x="5810250" y="3333750"/>
            <a:ext cx="1047750" cy="952500"/>
          </a:xfrm>
          <a:prstGeom prst="line">
            <a:avLst/>
          </a:prstGeom>
          <a:ln cap="rnd" w="38100">
            <a:solidFill>
              <a:srgbClr val="22C55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 flipV="true">
            <a:off x="5810250" y="5429250"/>
            <a:ext cx="1047750" cy="1428750"/>
          </a:xfrm>
          <a:prstGeom prst="line">
            <a:avLst/>
          </a:prstGeom>
          <a:ln cap="rnd" w="38100">
            <a:solidFill>
              <a:srgbClr val="22C55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11430000" y="5429250"/>
            <a:ext cx="1047750" cy="1428750"/>
          </a:xfrm>
          <a:prstGeom prst="line">
            <a:avLst/>
          </a:prstGeom>
          <a:ln cap="rnd" w="38100">
            <a:solidFill>
              <a:srgbClr val="22C55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H="true">
            <a:off x="11430000" y="3333750"/>
            <a:ext cx="1047750" cy="952500"/>
          </a:xfrm>
          <a:prstGeom prst="line">
            <a:avLst/>
          </a:prstGeom>
          <a:ln cap="rnd" w="38100">
            <a:solidFill>
              <a:srgbClr val="22C55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0" id="20"/>
          <p:cNvSpPr txBox="true"/>
          <p:nvPr/>
        </p:nvSpPr>
        <p:spPr>
          <a:xfrm rot="0">
            <a:off x="7334250" y="4248150"/>
            <a:ext cx="3619500" cy="86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6"/>
              </a:lnSpc>
            </a:pPr>
            <a:r>
              <a:rPr lang="en-US" sz="32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BACKTOME</a:t>
            </a:r>
          </a:p>
          <a:p>
            <a:pPr algn="ctr">
              <a:lnSpc>
                <a:spcPts val="3386"/>
              </a:lnSpc>
            </a:pPr>
            <a:r>
              <a:rPr lang="en-US" sz="32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SaaS B2B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47875" y="2952750"/>
            <a:ext cx="3524250" cy="54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INSTITUCIÓN</a:t>
            </a:r>
          </a:p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Tenant / campus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47875" y="6505575"/>
            <a:ext cx="3524250" cy="54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PAÑOLERO</a:t>
            </a:r>
          </a:p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Custodia y actas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15875" y="6505575"/>
            <a:ext cx="3524250" cy="54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ALUMNO</a:t>
            </a:r>
          </a:p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 gratuita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15875" y="2952750"/>
            <a:ext cx="3524250" cy="54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SEDE / FACULTAD</a:t>
            </a:r>
          </a:p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Segmentación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64000" y="9744075"/>
            <a:ext cx="6667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08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03 / 13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Problematica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6300" y="2781300"/>
            <a:ext cx="3762375" cy="2619375"/>
            <a:chOff x="0" y="0"/>
            <a:chExt cx="5016500" cy="3492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016500" cy="3492500"/>
              <a:chOff x="0" y="0"/>
              <a:chExt cx="5016500" cy="3492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0165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5016500">
                    <a:moveTo>
                      <a:pt x="57873" y="0"/>
                    </a:moveTo>
                    <a:lnTo>
                      <a:pt x="4958626" y="0"/>
                    </a:lnTo>
                    <a:cubicBezTo>
                      <a:pt x="4990589" y="0"/>
                      <a:pt x="5016500" y="25911"/>
                      <a:pt x="5016500" y="57873"/>
                    </a:cubicBezTo>
                    <a:lnTo>
                      <a:pt x="5016500" y="3434626"/>
                    </a:lnTo>
                    <a:cubicBezTo>
                      <a:pt x="5016500" y="3466589"/>
                      <a:pt x="4990589" y="3492500"/>
                      <a:pt x="4958626" y="3492500"/>
                    </a:cubicBezTo>
                    <a:lnTo>
                      <a:pt x="57873" y="3492500"/>
                    </a:lnTo>
                    <a:cubicBezTo>
                      <a:pt x="25911" y="3492500"/>
                      <a:pt x="0" y="3466589"/>
                      <a:pt x="0" y="3434626"/>
                    </a:cubicBezTo>
                    <a:lnTo>
                      <a:pt x="0" y="57873"/>
                    </a:lnTo>
                    <a:cubicBezTo>
                      <a:pt x="0" y="25911"/>
                      <a:pt x="25911" y="0"/>
                      <a:pt x="578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355600" y="409575"/>
              <a:ext cx="8890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55600" y="1282700"/>
              <a:ext cx="4191000" cy="861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Falta de registro</a:t>
              </a:r>
            </a:p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centralizado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19675" y="2781300"/>
            <a:ext cx="3762375" cy="2619375"/>
            <a:chOff x="0" y="0"/>
            <a:chExt cx="5016500" cy="3492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016500" cy="3492500"/>
              <a:chOff x="0" y="0"/>
              <a:chExt cx="5016500" cy="3492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0165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5016500">
                    <a:moveTo>
                      <a:pt x="57873" y="0"/>
                    </a:moveTo>
                    <a:lnTo>
                      <a:pt x="4958626" y="0"/>
                    </a:lnTo>
                    <a:cubicBezTo>
                      <a:pt x="4990589" y="0"/>
                      <a:pt x="5016500" y="25911"/>
                      <a:pt x="5016500" y="57873"/>
                    </a:cubicBezTo>
                    <a:lnTo>
                      <a:pt x="5016500" y="3434626"/>
                    </a:lnTo>
                    <a:cubicBezTo>
                      <a:pt x="5016500" y="3466589"/>
                      <a:pt x="4990589" y="3492500"/>
                      <a:pt x="4958626" y="3492500"/>
                    </a:cubicBezTo>
                    <a:lnTo>
                      <a:pt x="57873" y="3492500"/>
                    </a:lnTo>
                    <a:cubicBezTo>
                      <a:pt x="25911" y="3492500"/>
                      <a:pt x="0" y="3466589"/>
                      <a:pt x="0" y="3434626"/>
                    </a:cubicBezTo>
                    <a:lnTo>
                      <a:pt x="0" y="57873"/>
                    </a:lnTo>
                    <a:cubicBezTo>
                      <a:pt x="0" y="25911"/>
                      <a:pt x="25911" y="0"/>
                      <a:pt x="578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355600" y="409575"/>
              <a:ext cx="8890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55600" y="1282700"/>
              <a:ext cx="4191000" cy="861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Fraude y reclamos</a:t>
              </a:r>
            </a:p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ilícitos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63050" y="2781300"/>
            <a:ext cx="3762375" cy="2619375"/>
            <a:chOff x="0" y="0"/>
            <a:chExt cx="5016500" cy="3492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16500" cy="3492500"/>
              <a:chOff x="0" y="0"/>
              <a:chExt cx="5016500" cy="3492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0165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5016500">
                    <a:moveTo>
                      <a:pt x="57873" y="0"/>
                    </a:moveTo>
                    <a:lnTo>
                      <a:pt x="4958626" y="0"/>
                    </a:lnTo>
                    <a:cubicBezTo>
                      <a:pt x="4990589" y="0"/>
                      <a:pt x="5016500" y="25911"/>
                      <a:pt x="5016500" y="57873"/>
                    </a:cubicBezTo>
                    <a:lnTo>
                      <a:pt x="5016500" y="3434626"/>
                    </a:lnTo>
                    <a:cubicBezTo>
                      <a:pt x="5016500" y="3466589"/>
                      <a:pt x="4990589" y="3492500"/>
                      <a:pt x="4958626" y="3492500"/>
                    </a:cubicBezTo>
                    <a:lnTo>
                      <a:pt x="57873" y="3492500"/>
                    </a:lnTo>
                    <a:cubicBezTo>
                      <a:pt x="25911" y="3492500"/>
                      <a:pt x="0" y="3466589"/>
                      <a:pt x="0" y="3434626"/>
                    </a:cubicBezTo>
                    <a:lnTo>
                      <a:pt x="0" y="57873"/>
                    </a:lnTo>
                    <a:cubicBezTo>
                      <a:pt x="0" y="25911"/>
                      <a:pt x="25911" y="0"/>
                      <a:pt x="578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355600" y="409575"/>
              <a:ext cx="8890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55600" y="1273175"/>
              <a:ext cx="4191000" cy="843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1"/>
                </a:lnSpc>
              </a:pPr>
              <a:r>
                <a:rPr lang="en-US" sz="23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Exposición de</a:t>
              </a:r>
            </a:p>
            <a:p>
              <a:pPr algn="l">
                <a:lnSpc>
                  <a:spcPts val="2441"/>
                </a:lnSpc>
              </a:pPr>
              <a:r>
                <a:rPr lang="en-US" sz="23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información privada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06425" y="2781300"/>
            <a:ext cx="3762375" cy="2619375"/>
            <a:chOff x="0" y="0"/>
            <a:chExt cx="5016500" cy="34925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5016500" cy="3492500"/>
              <a:chOff x="0" y="0"/>
              <a:chExt cx="5016500" cy="3492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0165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5016500">
                    <a:moveTo>
                      <a:pt x="57873" y="0"/>
                    </a:moveTo>
                    <a:lnTo>
                      <a:pt x="4958626" y="0"/>
                    </a:lnTo>
                    <a:cubicBezTo>
                      <a:pt x="4990589" y="0"/>
                      <a:pt x="5016500" y="25911"/>
                      <a:pt x="5016500" y="57873"/>
                    </a:cubicBezTo>
                    <a:lnTo>
                      <a:pt x="5016500" y="3434626"/>
                    </a:lnTo>
                    <a:cubicBezTo>
                      <a:pt x="5016500" y="3466589"/>
                      <a:pt x="4990589" y="3492500"/>
                      <a:pt x="4958626" y="3492500"/>
                    </a:cubicBezTo>
                    <a:lnTo>
                      <a:pt x="57873" y="3492500"/>
                    </a:lnTo>
                    <a:cubicBezTo>
                      <a:pt x="25911" y="3492500"/>
                      <a:pt x="0" y="3466589"/>
                      <a:pt x="0" y="3434626"/>
                    </a:cubicBezTo>
                    <a:lnTo>
                      <a:pt x="0" y="57873"/>
                    </a:lnTo>
                    <a:cubicBezTo>
                      <a:pt x="0" y="25911"/>
                      <a:pt x="25911" y="0"/>
                      <a:pt x="578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355600" y="409575"/>
              <a:ext cx="8890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6B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55600" y="1273175"/>
              <a:ext cx="4191000" cy="843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1"/>
                </a:lnSpc>
              </a:pPr>
              <a:r>
                <a:rPr lang="en-US" sz="23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Cadena de custodia</a:t>
              </a:r>
            </a:p>
            <a:p>
              <a:pPr algn="l">
                <a:lnSpc>
                  <a:spcPts val="2441"/>
                </a:lnSpc>
              </a:pPr>
              <a:r>
                <a:rPr lang="en-US" sz="2325" b="true">
                  <a:solidFill>
                    <a:srgbClr val="17211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interrumpida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6300" y="6096000"/>
            <a:ext cx="7239000" cy="2381250"/>
            <a:chOff x="0" y="0"/>
            <a:chExt cx="9652000" cy="317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52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9652000">
                  <a:moveTo>
                    <a:pt x="30079" y="0"/>
                  </a:moveTo>
                  <a:lnTo>
                    <a:pt x="9621921" y="0"/>
                  </a:lnTo>
                  <a:cubicBezTo>
                    <a:pt x="9629898" y="0"/>
                    <a:pt x="9637549" y="3169"/>
                    <a:pt x="9643190" y="8810"/>
                  </a:cubicBezTo>
                  <a:cubicBezTo>
                    <a:pt x="9648831" y="14451"/>
                    <a:pt x="9652000" y="22102"/>
                    <a:pt x="9652000" y="30079"/>
                  </a:cubicBezTo>
                  <a:lnTo>
                    <a:pt x="9652000" y="3144921"/>
                  </a:lnTo>
                  <a:cubicBezTo>
                    <a:pt x="9652000" y="3152898"/>
                    <a:pt x="9648831" y="3160549"/>
                    <a:pt x="9643190" y="3166190"/>
                  </a:cubicBezTo>
                  <a:cubicBezTo>
                    <a:pt x="9637549" y="3171831"/>
                    <a:pt x="9629898" y="3175000"/>
                    <a:pt x="9621921" y="3175000"/>
                  </a:cubicBezTo>
                  <a:lnTo>
                    <a:pt x="30079" y="3175000"/>
                  </a:lnTo>
                  <a:cubicBezTo>
                    <a:pt x="22102" y="3175000"/>
                    <a:pt x="14451" y="3171831"/>
                    <a:pt x="8810" y="3166190"/>
                  </a:cubicBezTo>
                  <a:cubicBezTo>
                    <a:pt x="3169" y="3160549"/>
                    <a:pt x="0" y="3152898"/>
                    <a:pt x="0" y="3144921"/>
                  </a:cubicBezTo>
                  <a:lnTo>
                    <a:pt x="0" y="30079"/>
                  </a:lnTo>
                  <a:cubicBezTo>
                    <a:pt x="0" y="22102"/>
                    <a:pt x="3169" y="14451"/>
                    <a:pt x="8810" y="8810"/>
                  </a:cubicBezTo>
                  <a:cubicBezTo>
                    <a:pt x="14451" y="3169"/>
                    <a:pt x="22102" y="0"/>
                    <a:pt x="30079" y="0"/>
                  </a:cubicBezTo>
                  <a:close/>
                </a:path>
              </a:pathLst>
            </a:custGeom>
            <a:solidFill>
              <a:srgbClr val="163D2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763000" y="6096000"/>
            <a:ext cx="8648700" cy="2381250"/>
            <a:chOff x="0" y="0"/>
            <a:chExt cx="11531600" cy="3175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316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1531600">
                  <a:moveTo>
                    <a:pt x="25176" y="0"/>
                  </a:moveTo>
                  <a:lnTo>
                    <a:pt x="11506424" y="0"/>
                  </a:lnTo>
                  <a:cubicBezTo>
                    <a:pt x="11513101" y="0"/>
                    <a:pt x="11519505" y="2652"/>
                    <a:pt x="11524226" y="7374"/>
                  </a:cubicBezTo>
                  <a:cubicBezTo>
                    <a:pt x="11528947" y="12095"/>
                    <a:pt x="11531600" y="18499"/>
                    <a:pt x="11531600" y="25176"/>
                  </a:cubicBezTo>
                  <a:lnTo>
                    <a:pt x="11531600" y="3149824"/>
                  </a:lnTo>
                  <a:cubicBezTo>
                    <a:pt x="11531600" y="3156501"/>
                    <a:pt x="11528947" y="3162905"/>
                    <a:pt x="11524226" y="3167626"/>
                  </a:cubicBezTo>
                  <a:cubicBezTo>
                    <a:pt x="11519505" y="3172347"/>
                    <a:pt x="11513101" y="3175000"/>
                    <a:pt x="11506424" y="3175000"/>
                  </a:cubicBezTo>
                  <a:lnTo>
                    <a:pt x="25176" y="3175000"/>
                  </a:lnTo>
                  <a:cubicBezTo>
                    <a:pt x="18499" y="3175000"/>
                    <a:pt x="12095" y="3172347"/>
                    <a:pt x="7374" y="3167626"/>
                  </a:cubicBezTo>
                  <a:cubicBezTo>
                    <a:pt x="2652" y="3162905"/>
                    <a:pt x="0" y="3156501"/>
                    <a:pt x="0" y="3149824"/>
                  </a:cubicBezTo>
                  <a:lnTo>
                    <a:pt x="0" y="25176"/>
                  </a:lnTo>
                  <a:cubicBezTo>
                    <a:pt x="0" y="18499"/>
                    <a:pt x="2652" y="12095"/>
                    <a:pt x="7374" y="7374"/>
                  </a:cubicBezTo>
                  <a:cubicBezTo>
                    <a:pt x="12095" y="2652"/>
                    <a:pt x="18499" y="0"/>
                    <a:pt x="25176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143000" y="6429375"/>
            <a:ext cx="447675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5"/>
              </a:lnSpc>
            </a:pPr>
            <a:r>
              <a:rPr lang="en-US" sz="6900" b="true">
                <a:solidFill>
                  <a:srgbClr val="4ADE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+7.000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8250" y="7296150"/>
            <a:ext cx="476250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objetos perdidos al año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15500" y="657225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150" b="true">
                <a:solidFill>
                  <a:srgbClr val="FF6B4A"/>
                </a:solidFill>
                <a:latin typeface="DM Sans Bold"/>
                <a:ea typeface="DM Sans Bold"/>
                <a:cs typeface="DM Sans Bold"/>
                <a:sym typeface="DM Sans Bold"/>
              </a:rPr>
              <a:t>LEY Nº 19.628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15500" y="7210425"/>
            <a:ext cx="619125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Protección de la Vida Privada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764000" y="9744075"/>
            <a:ext cx="6667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08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04 / 13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6300" y="2647950"/>
            <a:ext cx="5143500" cy="3143250"/>
            <a:chOff x="0" y="0"/>
            <a:chExt cx="6858000" cy="4191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858000" cy="4191000"/>
              <a:chOff x="0" y="0"/>
              <a:chExt cx="6858000" cy="4191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858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6858000">
                    <a:moveTo>
                      <a:pt x="42333" y="0"/>
                    </a:moveTo>
                    <a:lnTo>
                      <a:pt x="6815667" y="0"/>
                    </a:lnTo>
                    <a:cubicBezTo>
                      <a:pt x="6826894" y="0"/>
                      <a:pt x="6837662" y="4460"/>
                      <a:pt x="6845601" y="12399"/>
                    </a:cubicBezTo>
                    <a:cubicBezTo>
                      <a:pt x="6853540" y="20338"/>
                      <a:pt x="6858000" y="31106"/>
                      <a:pt x="6858000" y="42333"/>
                    </a:cubicBezTo>
                    <a:lnTo>
                      <a:pt x="6858000" y="4148667"/>
                    </a:lnTo>
                    <a:cubicBezTo>
                      <a:pt x="6858000" y="4159894"/>
                      <a:pt x="6853540" y="4170662"/>
                      <a:pt x="6845601" y="4178601"/>
                    </a:cubicBezTo>
                    <a:cubicBezTo>
                      <a:pt x="6837662" y="4186540"/>
                      <a:pt x="6826894" y="4191000"/>
                      <a:pt x="6815667" y="4191000"/>
                    </a:cubicBezTo>
                    <a:lnTo>
                      <a:pt x="42333" y="4191000"/>
                    </a:lnTo>
                    <a:cubicBezTo>
                      <a:pt x="31106" y="4191000"/>
                      <a:pt x="20338" y="4186540"/>
                      <a:pt x="12399" y="4178601"/>
                    </a:cubicBezTo>
                    <a:cubicBezTo>
                      <a:pt x="4460" y="4170662"/>
                      <a:pt x="0" y="4159894"/>
                      <a:pt x="0" y="4148667"/>
                    </a:cubicBezTo>
                    <a:lnTo>
                      <a:pt x="0" y="42333"/>
                    </a:lnTo>
                    <a:cubicBezTo>
                      <a:pt x="0" y="31106"/>
                      <a:pt x="4460" y="20338"/>
                      <a:pt x="12399" y="12399"/>
                    </a:cubicBezTo>
                    <a:cubicBezTo>
                      <a:pt x="20338" y="4460"/>
                      <a:pt x="31106" y="0"/>
                      <a:pt x="42333" y="0"/>
                    </a:cubicBezTo>
                    <a:close/>
                  </a:path>
                </a:pathLst>
              </a:custGeom>
              <a:solidFill>
                <a:srgbClr val="F7F9F8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444500" y="444500"/>
              <a:ext cx="5969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150" b="true">
                  <a:solidFill>
                    <a:srgbClr val="22C55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TRAZABILIDAD FÍSICA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44500" y="1282700"/>
              <a:ext cx="5969000" cy="973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7211C"/>
                  </a:solidFill>
                  <a:latin typeface="DM Sans"/>
                  <a:ea typeface="DM Sans"/>
                  <a:cs typeface="DM Sans"/>
                  <a:sym typeface="DM Sans"/>
                </a:rPr>
                <a:t>QR opcional conecta el objeto con cada cambio de custodia.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0" y="2647950"/>
            <a:ext cx="5143500" cy="3143250"/>
            <a:chOff x="0" y="0"/>
            <a:chExt cx="6858000" cy="4191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858000" cy="4191000"/>
              <a:chOff x="0" y="0"/>
              <a:chExt cx="6858000" cy="4191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858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6858000">
                    <a:moveTo>
                      <a:pt x="42333" y="0"/>
                    </a:moveTo>
                    <a:lnTo>
                      <a:pt x="6815667" y="0"/>
                    </a:lnTo>
                    <a:cubicBezTo>
                      <a:pt x="6826894" y="0"/>
                      <a:pt x="6837662" y="4460"/>
                      <a:pt x="6845601" y="12399"/>
                    </a:cubicBezTo>
                    <a:cubicBezTo>
                      <a:pt x="6853540" y="20338"/>
                      <a:pt x="6858000" y="31106"/>
                      <a:pt x="6858000" y="42333"/>
                    </a:cubicBezTo>
                    <a:lnTo>
                      <a:pt x="6858000" y="4148667"/>
                    </a:lnTo>
                    <a:cubicBezTo>
                      <a:pt x="6858000" y="4159894"/>
                      <a:pt x="6853540" y="4170662"/>
                      <a:pt x="6845601" y="4178601"/>
                    </a:cubicBezTo>
                    <a:cubicBezTo>
                      <a:pt x="6837662" y="4186540"/>
                      <a:pt x="6826894" y="4191000"/>
                      <a:pt x="6815667" y="4191000"/>
                    </a:cubicBezTo>
                    <a:lnTo>
                      <a:pt x="42333" y="4191000"/>
                    </a:lnTo>
                    <a:cubicBezTo>
                      <a:pt x="31106" y="4191000"/>
                      <a:pt x="20338" y="4186540"/>
                      <a:pt x="12399" y="4178601"/>
                    </a:cubicBezTo>
                    <a:cubicBezTo>
                      <a:pt x="4460" y="4170662"/>
                      <a:pt x="0" y="4159894"/>
                      <a:pt x="0" y="4148667"/>
                    </a:cubicBezTo>
                    <a:lnTo>
                      <a:pt x="0" y="42333"/>
                    </a:lnTo>
                    <a:cubicBezTo>
                      <a:pt x="0" y="31106"/>
                      <a:pt x="4460" y="20338"/>
                      <a:pt x="12399" y="12399"/>
                    </a:cubicBezTo>
                    <a:cubicBezTo>
                      <a:pt x="20338" y="4460"/>
                      <a:pt x="31106" y="0"/>
                      <a:pt x="42333" y="0"/>
                    </a:cubicBezTo>
                    <a:close/>
                  </a:path>
                </a:pathLst>
              </a:custGeom>
              <a:solidFill>
                <a:srgbClr val="DCFCE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444500" y="444500"/>
              <a:ext cx="5969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150" b="true">
                  <a:solidFill>
                    <a:srgbClr val="FF6B4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PRIVACIDAD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44500" y="1282700"/>
              <a:ext cx="5969000" cy="973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7211C"/>
                  </a:solidFill>
                  <a:latin typeface="DM Sans"/>
                  <a:ea typeface="DM Sans"/>
                  <a:cs typeface="DM Sans"/>
                  <a:sym typeface="DM Sans"/>
                </a:rPr>
                <a:t>Catálogo anonimizado y protocolo ciego con preguntas desempate.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925300" y="2647950"/>
            <a:ext cx="5143500" cy="3143250"/>
            <a:chOff x="0" y="0"/>
            <a:chExt cx="6858000" cy="4191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858000" cy="4191000"/>
              <a:chOff x="0" y="0"/>
              <a:chExt cx="6858000" cy="4191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858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6858000">
                    <a:moveTo>
                      <a:pt x="42333" y="0"/>
                    </a:moveTo>
                    <a:lnTo>
                      <a:pt x="6815667" y="0"/>
                    </a:lnTo>
                    <a:cubicBezTo>
                      <a:pt x="6826894" y="0"/>
                      <a:pt x="6837662" y="4460"/>
                      <a:pt x="6845601" y="12399"/>
                    </a:cubicBezTo>
                    <a:cubicBezTo>
                      <a:pt x="6853540" y="20338"/>
                      <a:pt x="6858000" y="31106"/>
                      <a:pt x="6858000" y="42333"/>
                    </a:cubicBezTo>
                    <a:lnTo>
                      <a:pt x="6858000" y="4148667"/>
                    </a:lnTo>
                    <a:cubicBezTo>
                      <a:pt x="6858000" y="4159894"/>
                      <a:pt x="6853540" y="4170662"/>
                      <a:pt x="6845601" y="4178601"/>
                    </a:cubicBezTo>
                    <a:cubicBezTo>
                      <a:pt x="6837662" y="4186540"/>
                      <a:pt x="6826894" y="4191000"/>
                      <a:pt x="6815667" y="4191000"/>
                    </a:cubicBezTo>
                    <a:lnTo>
                      <a:pt x="42333" y="4191000"/>
                    </a:lnTo>
                    <a:cubicBezTo>
                      <a:pt x="31106" y="4191000"/>
                      <a:pt x="20338" y="4186540"/>
                      <a:pt x="12399" y="4178601"/>
                    </a:cubicBezTo>
                    <a:cubicBezTo>
                      <a:pt x="4460" y="4170662"/>
                      <a:pt x="0" y="4159894"/>
                      <a:pt x="0" y="4148667"/>
                    </a:cubicBezTo>
                    <a:lnTo>
                      <a:pt x="0" y="42333"/>
                    </a:lnTo>
                    <a:cubicBezTo>
                      <a:pt x="0" y="31106"/>
                      <a:pt x="4460" y="20338"/>
                      <a:pt x="12399" y="12399"/>
                    </a:cubicBezTo>
                    <a:cubicBezTo>
                      <a:pt x="20338" y="4460"/>
                      <a:pt x="31106" y="0"/>
                      <a:pt x="42333" y="0"/>
                    </a:cubicBezTo>
                    <a:close/>
                  </a:path>
                </a:pathLst>
              </a:custGeom>
              <a:solidFill>
                <a:srgbClr val="F7F9F8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4500" y="444500"/>
              <a:ext cx="5969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150" b="true">
                  <a:solidFill>
                    <a:srgbClr val="22C55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COMUNIDAD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44500" y="1282700"/>
              <a:ext cx="5969000" cy="973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7211C"/>
                  </a:solidFill>
                  <a:latin typeface="DM Sans"/>
                  <a:ea typeface="DM Sans"/>
                  <a:cs typeface="DM Sans"/>
                  <a:sym typeface="DM Sans"/>
                </a:rPr>
                <a:t>Actas inmutables, denuncias y búsqueda por filtros.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19250" y="7162800"/>
            <a:ext cx="2571750" cy="895350"/>
            <a:chOff x="0" y="0"/>
            <a:chExt cx="3429000" cy="1193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290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3429000">
                  <a:moveTo>
                    <a:pt x="221074" y="0"/>
                  </a:moveTo>
                  <a:lnTo>
                    <a:pt x="3207926" y="0"/>
                  </a:lnTo>
                  <a:cubicBezTo>
                    <a:pt x="3330022" y="0"/>
                    <a:pt x="3429000" y="98978"/>
                    <a:pt x="3429000" y="221074"/>
                  </a:cubicBezTo>
                  <a:lnTo>
                    <a:pt x="3429000" y="972726"/>
                  </a:lnTo>
                  <a:cubicBezTo>
                    <a:pt x="3429000" y="1094822"/>
                    <a:pt x="3330022" y="1193800"/>
                    <a:pt x="3207926" y="1193800"/>
                  </a:cubicBezTo>
                  <a:lnTo>
                    <a:pt x="221074" y="1193800"/>
                  </a:lnTo>
                  <a:cubicBezTo>
                    <a:pt x="98978" y="1193800"/>
                    <a:pt x="0" y="1094822"/>
                    <a:pt x="0" y="972726"/>
                  </a:cubicBezTo>
                  <a:lnTo>
                    <a:pt x="0" y="221074"/>
                  </a:lnTo>
                  <a:cubicBezTo>
                    <a:pt x="0" y="98978"/>
                    <a:pt x="98978" y="0"/>
                    <a:pt x="22107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619250" y="7458075"/>
            <a:ext cx="2571750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Reportar</a:t>
            </a:r>
          </a:p>
        </p:txBody>
      </p:sp>
      <p:sp>
        <p:nvSpPr>
          <p:cNvPr name="AutoShape 24" id="24"/>
          <p:cNvSpPr/>
          <p:nvPr/>
        </p:nvSpPr>
        <p:spPr>
          <a:xfrm>
            <a:off x="4333875" y="7610475"/>
            <a:ext cx="1047750" cy="0"/>
          </a:xfrm>
          <a:prstGeom prst="line">
            <a:avLst/>
          </a:prstGeom>
          <a:ln cap="rnd" w="38100">
            <a:solidFill>
              <a:srgbClr val="22C55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5619750" y="7162800"/>
            <a:ext cx="2571750" cy="895350"/>
            <a:chOff x="0" y="0"/>
            <a:chExt cx="3429000" cy="1193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290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3429000">
                  <a:moveTo>
                    <a:pt x="221074" y="0"/>
                  </a:moveTo>
                  <a:lnTo>
                    <a:pt x="3207926" y="0"/>
                  </a:lnTo>
                  <a:cubicBezTo>
                    <a:pt x="3330022" y="0"/>
                    <a:pt x="3429000" y="98978"/>
                    <a:pt x="3429000" y="221074"/>
                  </a:cubicBezTo>
                  <a:lnTo>
                    <a:pt x="3429000" y="972726"/>
                  </a:lnTo>
                  <a:cubicBezTo>
                    <a:pt x="3429000" y="1094822"/>
                    <a:pt x="3330022" y="1193800"/>
                    <a:pt x="3207926" y="1193800"/>
                  </a:cubicBezTo>
                  <a:lnTo>
                    <a:pt x="221074" y="1193800"/>
                  </a:lnTo>
                  <a:cubicBezTo>
                    <a:pt x="98978" y="1193800"/>
                    <a:pt x="0" y="1094822"/>
                    <a:pt x="0" y="972726"/>
                  </a:cubicBezTo>
                  <a:lnTo>
                    <a:pt x="0" y="221074"/>
                  </a:lnTo>
                  <a:cubicBezTo>
                    <a:pt x="0" y="98978"/>
                    <a:pt x="98978" y="0"/>
                    <a:pt x="22107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5619750" y="7458075"/>
            <a:ext cx="2571750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Encontrar</a:t>
            </a:r>
          </a:p>
        </p:txBody>
      </p:sp>
      <p:sp>
        <p:nvSpPr>
          <p:cNvPr name="AutoShape 28" id="28"/>
          <p:cNvSpPr/>
          <p:nvPr/>
        </p:nvSpPr>
        <p:spPr>
          <a:xfrm>
            <a:off x="8334375" y="7610475"/>
            <a:ext cx="1047750" cy="0"/>
          </a:xfrm>
          <a:prstGeom prst="line">
            <a:avLst/>
          </a:prstGeom>
          <a:ln cap="rnd" w="38100">
            <a:solidFill>
              <a:srgbClr val="22C55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9620250" y="7162800"/>
            <a:ext cx="2571750" cy="895350"/>
            <a:chOff x="0" y="0"/>
            <a:chExt cx="3429000" cy="1193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290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3429000">
                  <a:moveTo>
                    <a:pt x="221074" y="0"/>
                  </a:moveTo>
                  <a:lnTo>
                    <a:pt x="3207926" y="0"/>
                  </a:lnTo>
                  <a:cubicBezTo>
                    <a:pt x="3330022" y="0"/>
                    <a:pt x="3429000" y="98978"/>
                    <a:pt x="3429000" y="221074"/>
                  </a:cubicBezTo>
                  <a:lnTo>
                    <a:pt x="3429000" y="972726"/>
                  </a:lnTo>
                  <a:cubicBezTo>
                    <a:pt x="3429000" y="1094822"/>
                    <a:pt x="3330022" y="1193800"/>
                    <a:pt x="3207926" y="1193800"/>
                  </a:cubicBezTo>
                  <a:lnTo>
                    <a:pt x="221074" y="1193800"/>
                  </a:lnTo>
                  <a:cubicBezTo>
                    <a:pt x="98978" y="1193800"/>
                    <a:pt x="0" y="1094822"/>
                    <a:pt x="0" y="972726"/>
                  </a:cubicBezTo>
                  <a:lnTo>
                    <a:pt x="0" y="221074"/>
                  </a:lnTo>
                  <a:cubicBezTo>
                    <a:pt x="0" y="98978"/>
                    <a:pt x="98978" y="0"/>
                    <a:pt x="22107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620250" y="7458075"/>
            <a:ext cx="2571750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Validar</a:t>
            </a:r>
          </a:p>
        </p:txBody>
      </p:sp>
      <p:sp>
        <p:nvSpPr>
          <p:cNvPr name="AutoShape 32" id="32"/>
          <p:cNvSpPr/>
          <p:nvPr/>
        </p:nvSpPr>
        <p:spPr>
          <a:xfrm>
            <a:off x="12334875" y="7610475"/>
            <a:ext cx="1047750" cy="0"/>
          </a:xfrm>
          <a:prstGeom prst="line">
            <a:avLst/>
          </a:prstGeom>
          <a:ln cap="rnd" w="38100">
            <a:solidFill>
              <a:srgbClr val="22C55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3620750" y="7162800"/>
            <a:ext cx="2571750" cy="895350"/>
            <a:chOff x="0" y="0"/>
            <a:chExt cx="3429000" cy="1193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290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3429000">
                  <a:moveTo>
                    <a:pt x="221074" y="0"/>
                  </a:moveTo>
                  <a:lnTo>
                    <a:pt x="3207926" y="0"/>
                  </a:lnTo>
                  <a:cubicBezTo>
                    <a:pt x="3330022" y="0"/>
                    <a:pt x="3429000" y="98978"/>
                    <a:pt x="3429000" y="221074"/>
                  </a:cubicBezTo>
                  <a:lnTo>
                    <a:pt x="3429000" y="972726"/>
                  </a:lnTo>
                  <a:cubicBezTo>
                    <a:pt x="3429000" y="1094822"/>
                    <a:pt x="3330022" y="1193800"/>
                    <a:pt x="3207926" y="1193800"/>
                  </a:cubicBezTo>
                  <a:lnTo>
                    <a:pt x="221074" y="1193800"/>
                  </a:lnTo>
                  <a:cubicBezTo>
                    <a:pt x="98978" y="1193800"/>
                    <a:pt x="0" y="1094822"/>
                    <a:pt x="0" y="972726"/>
                  </a:cubicBezTo>
                  <a:lnTo>
                    <a:pt x="0" y="221074"/>
                  </a:lnTo>
                  <a:cubicBezTo>
                    <a:pt x="0" y="98978"/>
                    <a:pt x="98978" y="0"/>
                    <a:pt x="221074" y="0"/>
                  </a:cubicBezTo>
                  <a:close/>
                </a:path>
              </a:pathLst>
            </a:custGeom>
            <a:solidFill>
              <a:srgbClr val="22C55E"/>
            </a:solidFill>
            <a:ln cap="rnd">
              <a:noFill/>
              <a:prstDash val="solid"/>
              <a:round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3620750" y="7458075"/>
            <a:ext cx="2571750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Restituir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764000" y="9744075"/>
            <a:ext cx="6667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08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05 / 13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· Plan· Roles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90550" y="2190750"/>
            <a:ext cx="8001000" cy="3143250"/>
            <a:chOff x="0" y="0"/>
            <a:chExt cx="10668000" cy="419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68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10668000">
                  <a:moveTo>
                    <a:pt x="27214" y="0"/>
                  </a:moveTo>
                  <a:lnTo>
                    <a:pt x="10640785" y="0"/>
                  </a:lnTo>
                  <a:cubicBezTo>
                    <a:pt x="10648004" y="0"/>
                    <a:pt x="10654926" y="2867"/>
                    <a:pt x="10660029" y="7971"/>
                  </a:cubicBezTo>
                  <a:cubicBezTo>
                    <a:pt x="10665133" y="13075"/>
                    <a:pt x="10668000" y="19997"/>
                    <a:pt x="10668000" y="27214"/>
                  </a:cubicBezTo>
                  <a:lnTo>
                    <a:pt x="10668000" y="4163786"/>
                  </a:lnTo>
                  <a:cubicBezTo>
                    <a:pt x="10668000" y="4171004"/>
                    <a:pt x="10665133" y="4177926"/>
                    <a:pt x="10660029" y="4183029"/>
                  </a:cubicBezTo>
                  <a:cubicBezTo>
                    <a:pt x="10654926" y="4188133"/>
                    <a:pt x="10648004" y="4191000"/>
                    <a:pt x="10640785" y="4191000"/>
                  </a:cubicBezTo>
                  <a:lnTo>
                    <a:pt x="27214" y="4191000"/>
                  </a:lnTo>
                  <a:cubicBezTo>
                    <a:pt x="19997" y="4191000"/>
                    <a:pt x="13075" y="4188133"/>
                    <a:pt x="7971" y="4183029"/>
                  </a:cubicBezTo>
                  <a:cubicBezTo>
                    <a:pt x="2867" y="4177926"/>
                    <a:pt x="0" y="4171004"/>
                    <a:pt x="0" y="4163786"/>
                  </a:cubicBezTo>
                  <a:lnTo>
                    <a:pt x="0" y="27214"/>
                  </a:lnTo>
                  <a:cubicBezTo>
                    <a:pt x="0" y="19997"/>
                    <a:pt x="2867" y="13075"/>
                    <a:pt x="7971" y="7971"/>
                  </a:cubicBezTo>
                  <a:cubicBezTo>
                    <a:pt x="13075" y="2867"/>
                    <a:pt x="19997" y="0"/>
                    <a:pt x="2721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906000" y="2190750"/>
            <a:ext cx="7791450" cy="3143250"/>
            <a:chOff x="0" y="0"/>
            <a:chExt cx="10388600" cy="419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86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10388600">
                  <a:moveTo>
                    <a:pt x="27946" y="0"/>
                  </a:moveTo>
                  <a:lnTo>
                    <a:pt x="10360654" y="0"/>
                  </a:lnTo>
                  <a:cubicBezTo>
                    <a:pt x="10376088" y="0"/>
                    <a:pt x="10388600" y="12512"/>
                    <a:pt x="10388600" y="27946"/>
                  </a:cubicBezTo>
                  <a:lnTo>
                    <a:pt x="10388600" y="4163054"/>
                  </a:lnTo>
                  <a:cubicBezTo>
                    <a:pt x="10388600" y="4178488"/>
                    <a:pt x="10376088" y="4191000"/>
                    <a:pt x="10360654" y="4191000"/>
                  </a:cubicBezTo>
                  <a:lnTo>
                    <a:pt x="27946" y="4191000"/>
                  </a:lnTo>
                  <a:cubicBezTo>
                    <a:pt x="12512" y="4191000"/>
                    <a:pt x="0" y="4178488"/>
                    <a:pt x="0" y="4163054"/>
                  </a:cubicBezTo>
                  <a:lnTo>
                    <a:pt x="0" y="27946"/>
                  </a:lnTo>
                  <a:cubicBezTo>
                    <a:pt x="0" y="12512"/>
                    <a:pt x="12512" y="0"/>
                    <a:pt x="27946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AutoShape 10" id="10"/>
          <p:cNvSpPr/>
          <p:nvPr/>
        </p:nvSpPr>
        <p:spPr>
          <a:xfrm>
            <a:off x="2286000" y="6477000"/>
            <a:ext cx="13716000" cy="0"/>
          </a:xfrm>
          <a:prstGeom prst="line">
            <a:avLst/>
          </a:prstGeom>
          <a:ln cap="rnd" w="47625">
            <a:solidFill>
              <a:srgbClr val="DCE5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333625" y="6286500"/>
            <a:ext cx="381000" cy="381000"/>
            <a:chOff x="0" y="0"/>
            <a:chExt cx="508000" cy="50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239125" y="6286500"/>
            <a:ext cx="381000" cy="381000"/>
            <a:chOff x="0" y="0"/>
            <a:chExt cx="508000" cy="50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4ADE8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144625" y="6286500"/>
            <a:ext cx="381000" cy="381000"/>
            <a:chOff x="0" y="0"/>
            <a:chExt cx="508000" cy="50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6B4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76300" y="6667500"/>
            <a:ext cx="4953000" cy="1809750"/>
            <a:chOff x="0" y="0"/>
            <a:chExt cx="6604000" cy="241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369039"/>
                  </a:lnTo>
                  <a:cubicBezTo>
                    <a:pt x="6604000" y="2380698"/>
                    <a:pt x="6599368" y="2391880"/>
                    <a:pt x="6591124" y="2400124"/>
                  </a:cubicBezTo>
                  <a:cubicBezTo>
                    <a:pt x="6582880" y="2408368"/>
                    <a:pt x="6571698" y="2413000"/>
                    <a:pt x="6560038" y="2413000"/>
                  </a:cubicBezTo>
                  <a:lnTo>
                    <a:pt x="43962" y="2413000"/>
                  </a:lnTo>
                  <a:cubicBezTo>
                    <a:pt x="32302" y="2413000"/>
                    <a:pt x="21120" y="2408368"/>
                    <a:pt x="12876" y="2400124"/>
                  </a:cubicBezTo>
                  <a:cubicBezTo>
                    <a:pt x="4632" y="2391880"/>
                    <a:pt x="0" y="2380698"/>
                    <a:pt x="0" y="2369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781800" y="6667500"/>
            <a:ext cx="4953000" cy="1809750"/>
            <a:chOff x="0" y="0"/>
            <a:chExt cx="6604000" cy="241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369039"/>
                  </a:lnTo>
                  <a:cubicBezTo>
                    <a:pt x="6604000" y="2380698"/>
                    <a:pt x="6599368" y="2391880"/>
                    <a:pt x="6591124" y="2400124"/>
                  </a:cubicBezTo>
                  <a:cubicBezTo>
                    <a:pt x="6582880" y="2408368"/>
                    <a:pt x="6571698" y="2413000"/>
                    <a:pt x="6560038" y="2413000"/>
                  </a:cubicBezTo>
                  <a:lnTo>
                    <a:pt x="43962" y="2413000"/>
                  </a:lnTo>
                  <a:cubicBezTo>
                    <a:pt x="32302" y="2413000"/>
                    <a:pt x="21120" y="2408368"/>
                    <a:pt x="12876" y="2400124"/>
                  </a:cubicBezTo>
                  <a:cubicBezTo>
                    <a:pt x="4632" y="2391880"/>
                    <a:pt x="0" y="2380698"/>
                    <a:pt x="0" y="2369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687300" y="6667500"/>
            <a:ext cx="4953000" cy="1809750"/>
            <a:chOff x="0" y="0"/>
            <a:chExt cx="6604000" cy="2413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369039"/>
                  </a:lnTo>
                  <a:cubicBezTo>
                    <a:pt x="6604000" y="2380698"/>
                    <a:pt x="6599368" y="2391880"/>
                    <a:pt x="6591124" y="2400124"/>
                  </a:cubicBezTo>
                  <a:cubicBezTo>
                    <a:pt x="6582880" y="2408368"/>
                    <a:pt x="6571698" y="2413000"/>
                    <a:pt x="6560038" y="2413000"/>
                  </a:cubicBezTo>
                  <a:lnTo>
                    <a:pt x="43962" y="2413000"/>
                  </a:lnTo>
                  <a:cubicBezTo>
                    <a:pt x="32302" y="2413000"/>
                    <a:pt x="21120" y="2408368"/>
                    <a:pt x="12876" y="2400124"/>
                  </a:cubicBezTo>
                  <a:cubicBezTo>
                    <a:pt x="4632" y="2391880"/>
                    <a:pt x="0" y="2380698"/>
                    <a:pt x="0" y="2369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76300" y="2419350"/>
            <a:ext cx="5334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150" b="true">
                <a:solidFill>
                  <a:srgbClr val="22C55E"/>
                </a:solidFill>
                <a:latin typeface="DM Sans Bold"/>
                <a:ea typeface="DM Sans Bold"/>
                <a:cs typeface="DM Sans Bold"/>
                <a:sym typeface="DM Sans Bold"/>
              </a:rPr>
              <a:t>SCRUM · SPRINTS SEMANALES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6300" y="2971800"/>
            <a:ext cx="6191250" cy="76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3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Planeación · Revisión · Retrospectiva</a:t>
            </a:r>
          </a:p>
          <a:p>
            <a:pPr algn="l">
              <a:lnSpc>
                <a:spcPts val="3022"/>
              </a:lnSpc>
            </a:pPr>
            <a:r>
              <a:rPr lang="en-US" sz="23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Sábados 09:00–10:00 hrs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6300" y="4086225"/>
            <a:ext cx="5334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ClickUp Kanban ↔ GitHub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68000" y="2419350"/>
            <a:ext cx="3810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150" b="true">
                <a:solidFill>
                  <a:srgbClr val="FF6B4A"/>
                </a:solidFill>
                <a:latin typeface="DM Sans Bold"/>
                <a:ea typeface="DM Sans Bold"/>
                <a:cs typeface="DM Sans Bold"/>
                <a:sym typeface="DM Sans Bold"/>
              </a:rPr>
              <a:t>ROLES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68000" y="2933700"/>
            <a:ext cx="6477000" cy="153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PO  Mauricio Urrutia</a:t>
            </a:r>
          </a:p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SM  Lucero Leyva</a:t>
            </a:r>
          </a:p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TEAM  Renato · Mauricio · Lucero</a:t>
            </a:r>
          </a:p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STAKEHOLDERS  Duoc UC · instituciones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0625" y="6867525"/>
            <a:ext cx="4095750" cy="25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  ESPECIFICAR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0625" y="7343775"/>
            <a:ext cx="409575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Semanas 1–4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Diseño, diagramas, planificación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96125" y="6867525"/>
            <a:ext cx="4095750" cy="25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  CONSTRUIR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96125" y="7343775"/>
            <a:ext cx="409575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Semanas 5–9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Núcleo SaaS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01625" y="6867525"/>
            <a:ext cx="4095750" cy="25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  VERIFICAR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01625" y="7343775"/>
            <a:ext cx="409575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Semanas 10 – 14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Pruebas QA, Cierre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764000" y="9744075"/>
            <a:ext cx="6667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08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06 / 13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01923" y="2080107"/>
            <a:ext cx="9739448" cy="7018132"/>
          </a:xfrm>
          <a:custGeom>
            <a:avLst/>
            <a:gdLst/>
            <a:ahLst/>
            <a:cxnLst/>
            <a:rect r="r" b="b" t="t" l="l"/>
            <a:pathLst>
              <a:path h="7018132" w="9739448">
                <a:moveTo>
                  <a:pt x="0" y="0"/>
                </a:moveTo>
                <a:lnTo>
                  <a:pt x="9739448" y="0"/>
                </a:lnTo>
                <a:lnTo>
                  <a:pt x="9739448" y="7018132"/>
                </a:lnTo>
                <a:lnTo>
                  <a:pt x="0" y="7018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063" t="-22661" r="-16673" b="-174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Mapa Tecnológico / Arquitectura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64000" y="9744075"/>
            <a:ext cx="666750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b="true" sz="1425" spc="114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07 / 13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Competencias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19125" y="2476500"/>
            <a:ext cx="17049750" cy="6286500"/>
            <a:chOff x="0" y="0"/>
            <a:chExt cx="22733000" cy="838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33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22733000">
                  <a:moveTo>
                    <a:pt x="9933" y="0"/>
                  </a:moveTo>
                  <a:lnTo>
                    <a:pt x="22723067" y="0"/>
                  </a:lnTo>
                  <a:cubicBezTo>
                    <a:pt x="22728552" y="0"/>
                    <a:pt x="22733000" y="4447"/>
                    <a:pt x="22733000" y="9933"/>
                  </a:cubicBezTo>
                  <a:lnTo>
                    <a:pt x="22733000" y="8372067"/>
                  </a:lnTo>
                  <a:cubicBezTo>
                    <a:pt x="22733000" y="8377553"/>
                    <a:pt x="22728552" y="8382000"/>
                    <a:pt x="22723067" y="8382000"/>
                  </a:cubicBezTo>
                  <a:lnTo>
                    <a:pt x="9933" y="8382000"/>
                  </a:lnTo>
                  <a:cubicBezTo>
                    <a:pt x="4447" y="8382000"/>
                    <a:pt x="0" y="8377553"/>
                    <a:pt x="0" y="8372067"/>
                  </a:cubicBezTo>
                  <a:lnTo>
                    <a:pt x="0" y="9933"/>
                  </a:lnTo>
                  <a:cubicBezTo>
                    <a:pt x="0" y="4447"/>
                    <a:pt x="4447" y="0"/>
                    <a:pt x="99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19125" y="7553325"/>
            <a:ext cx="17049750" cy="838200"/>
            <a:chOff x="0" y="0"/>
            <a:chExt cx="22733000" cy="1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7330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22733000">
                  <a:moveTo>
                    <a:pt x="0" y="0"/>
                  </a:moveTo>
                  <a:lnTo>
                    <a:pt x="22733000" y="0"/>
                  </a:lnTo>
                  <a:lnTo>
                    <a:pt x="22733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AutoShape 10" id="10"/>
          <p:cNvSpPr/>
          <p:nvPr/>
        </p:nvSpPr>
        <p:spPr>
          <a:xfrm>
            <a:off x="619125" y="3276600"/>
            <a:ext cx="17049750" cy="0"/>
          </a:xfrm>
          <a:prstGeom prst="line">
            <a:avLst/>
          </a:prstGeom>
          <a:ln cap="flat" w="9525">
            <a:solidFill>
              <a:srgbClr val="DCE5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19125" y="4124325"/>
            <a:ext cx="17049750" cy="0"/>
          </a:xfrm>
          <a:prstGeom prst="line">
            <a:avLst/>
          </a:prstGeom>
          <a:ln cap="flat" w="9525">
            <a:solidFill>
              <a:srgbClr val="DCE5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19125" y="4972050"/>
            <a:ext cx="17049750" cy="0"/>
          </a:xfrm>
          <a:prstGeom prst="line">
            <a:avLst/>
          </a:prstGeom>
          <a:ln cap="flat" w="9525">
            <a:solidFill>
              <a:srgbClr val="DCE5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19125" y="5819775"/>
            <a:ext cx="17049750" cy="0"/>
          </a:xfrm>
          <a:prstGeom prst="line">
            <a:avLst/>
          </a:prstGeom>
          <a:ln cap="flat" w="9525">
            <a:solidFill>
              <a:srgbClr val="DCE5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619125" y="6667500"/>
            <a:ext cx="17049750" cy="0"/>
          </a:xfrm>
          <a:prstGeom prst="line">
            <a:avLst/>
          </a:prstGeom>
          <a:ln cap="flat" w="9525">
            <a:solidFill>
              <a:srgbClr val="DCE5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619125" y="7515225"/>
            <a:ext cx="17049750" cy="0"/>
          </a:xfrm>
          <a:prstGeom prst="line">
            <a:avLst/>
          </a:prstGeom>
          <a:ln cap="flat" w="9525">
            <a:solidFill>
              <a:srgbClr val="DCE5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619125" y="8362950"/>
            <a:ext cx="17049750" cy="0"/>
          </a:xfrm>
          <a:prstGeom prst="line">
            <a:avLst/>
          </a:prstGeom>
          <a:ln cap="flat" w="9525">
            <a:solidFill>
              <a:srgbClr val="DCE5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895350" y="2752725"/>
            <a:ext cx="2571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spc="120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SOLUCIÓN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29025" y="2752725"/>
            <a:ext cx="2571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PÚBLICO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62700" y="2752725"/>
            <a:ext cx="2571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AISLAMIENTO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96375" y="2752725"/>
            <a:ext cx="2571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COMPROBACIÓN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30050" y="2752725"/>
            <a:ext cx="2571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CUSTODIA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63725" y="2752725"/>
            <a:ext cx="2571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ACTA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5350" y="3495675"/>
            <a:ext cx="2571750" cy="24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7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SoSafe / RRSS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29025" y="345757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Masivo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62700" y="345757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96375" y="345757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Social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30050" y="345757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63725" y="345757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5350" y="4343400"/>
            <a:ext cx="2571750" cy="24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7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iLost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629025" y="430530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General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62700" y="430530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Básico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96375" y="430530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Formulario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30050" y="430530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Parcial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563725" y="430530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5350" y="5191125"/>
            <a:ext cx="2571750" cy="24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7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NotLost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29025" y="515302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B2B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62700" y="515302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096375" y="515302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Matching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30050" y="515302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Sí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563725" y="515302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Parcial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95350" y="6038850"/>
            <a:ext cx="2571750" cy="24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7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Lostings / Campus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629025" y="600075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Campus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362700" y="600075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Cuenta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096375" y="600075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Descripción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830050" y="600075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Parcial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563725" y="600075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95350" y="6886575"/>
            <a:ext cx="2571750" cy="24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7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FindMyLost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629025" y="684847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General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362700" y="684847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Cuenta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096375" y="684847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Propiedad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830050" y="684847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563725" y="6848475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95350" y="7734300"/>
            <a:ext cx="2571750" cy="24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7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BackToMe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629025" y="769620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B2B SaaS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362700" y="769620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RLS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096375" y="769620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Formulario y QR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830050" y="769620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Personal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563725" y="7696200"/>
            <a:ext cx="2571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Inmutable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19125" y="8715375"/>
            <a:ext cx="1601984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49" b="true">
                <a:solidFill>
                  <a:srgbClr val="17211C"/>
                </a:solidFill>
                <a:latin typeface="DM Sans Bold"/>
                <a:ea typeface="DM Sans Bold"/>
                <a:cs typeface="DM Sans Bold"/>
                <a:sym typeface="DM Sans Bold"/>
              </a:rPr>
              <a:t>Row-Level Security:</a:t>
            </a:r>
          </a:p>
          <a:p>
            <a:pPr algn="l">
              <a:lnSpc>
                <a:spcPts val="3149"/>
              </a:lnSpc>
            </a:pPr>
            <a:r>
              <a:rPr lang="en-US" sz="2249" b="true">
                <a:solidFill>
                  <a:srgbClr val="17211C"/>
                </a:solidFill>
                <a:latin typeface="DM Sans Bold"/>
                <a:ea typeface="DM Sans Bold"/>
                <a:cs typeface="DM Sans Bold"/>
                <a:sym typeface="DM Sans Bold"/>
              </a:rPr>
              <a:t>Cada usuario vea únicamente las filas de datos que está autorizado a consultar.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764000" y="9744075"/>
            <a:ext cx="6667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08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08 / 13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028700" y="2304479"/>
          <a:ext cx="13201650" cy="3771900"/>
        </p:xfrm>
        <a:graphic>
          <a:graphicData uri="http://schemas.openxmlformats.org/presentationml/2006/ole">
            <p:oleObj imgW="15836900" imgH="6400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Riesgos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300" y="1466850"/>
            <a:ext cx="142875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Tabla de riesgos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64000" y="9744075"/>
            <a:ext cx="6667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08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09 / 13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Riesgos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466850"/>
            <a:ext cx="142875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Matriz 5×5 · Probabilidad × Impacto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81250" y="2793206"/>
            <a:ext cx="914400" cy="914400"/>
            <a:chOff x="0" y="0"/>
            <a:chExt cx="12192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BBF7D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381375" y="2793206"/>
            <a:ext cx="914400" cy="914400"/>
            <a:chOff x="0" y="0"/>
            <a:chExt cx="1219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FEF3C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381500" y="2793206"/>
            <a:ext cx="914400" cy="914400"/>
            <a:chOff x="0" y="0"/>
            <a:chExt cx="1219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FED7A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381625" y="2793206"/>
            <a:ext cx="914400" cy="914400"/>
            <a:chOff x="0" y="0"/>
            <a:chExt cx="12192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FED7A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381750" y="2793206"/>
            <a:ext cx="914400" cy="914400"/>
            <a:chOff x="0" y="0"/>
            <a:chExt cx="121920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FFB4A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381250" y="3793331"/>
            <a:ext cx="914400" cy="914400"/>
            <a:chOff x="0" y="0"/>
            <a:chExt cx="12192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BBF7D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381375" y="3793331"/>
            <a:ext cx="914400" cy="914400"/>
            <a:chOff x="0" y="0"/>
            <a:chExt cx="121920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FEF3C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381500" y="3793331"/>
            <a:ext cx="914400" cy="914400"/>
            <a:chOff x="0" y="0"/>
            <a:chExt cx="12192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FEF3C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381625" y="3793331"/>
            <a:ext cx="914400" cy="914400"/>
            <a:chOff x="0" y="0"/>
            <a:chExt cx="121920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FED7A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381750" y="3793331"/>
            <a:ext cx="914400" cy="914400"/>
            <a:chOff x="0" y="0"/>
            <a:chExt cx="1219200" cy="121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FED7A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2381250" y="4793456"/>
            <a:ext cx="914400" cy="914400"/>
            <a:chOff x="0" y="0"/>
            <a:chExt cx="121920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3381375" y="4793456"/>
            <a:ext cx="914400" cy="914400"/>
            <a:chOff x="0" y="0"/>
            <a:chExt cx="121920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BBF7D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4381500" y="4793456"/>
            <a:ext cx="914400" cy="914400"/>
            <a:chOff x="0" y="0"/>
            <a:chExt cx="121920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FEF3C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381625" y="4793456"/>
            <a:ext cx="914400" cy="914400"/>
            <a:chOff x="0" y="0"/>
            <a:chExt cx="121920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FEF3C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381750" y="4793456"/>
            <a:ext cx="914400" cy="914400"/>
            <a:chOff x="0" y="0"/>
            <a:chExt cx="121920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FEF3C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381250" y="5793581"/>
            <a:ext cx="914400" cy="914400"/>
            <a:chOff x="0" y="0"/>
            <a:chExt cx="121920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3381375" y="5793581"/>
            <a:ext cx="914400" cy="914400"/>
            <a:chOff x="0" y="0"/>
            <a:chExt cx="121920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4381500" y="5793581"/>
            <a:ext cx="914400" cy="914400"/>
            <a:chOff x="0" y="0"/>
            <a:chExt cx="121920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BBF7D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5381625" y="5793581"/>
            <a:ext cx="914400" cy="914400"/>
            <a:chOff x="0" y="0"/>
            <a:chExt cx="121920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BBF7D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381750" y="5793581"/>
            <a:ext cx="914400" cy="914400"/>
            <a:chOff x="0" y="0"/>
            <a:chExt cx="121920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BBF7D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2381250" y="6793706"/>
            <a:ext cx="914400" cy="914400"/>
            <a:chOff x="0" y="0"/>
            <a:chExt cx="121920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3381375" y="6793706"/>
            <a:ext cx="914400" cy="914400"/>
            <a:chOff x="0" y="0"/>
            <a:chExt cx="121920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4381500" y="6793706"/>
            <a:ext cx="914400" cy="914400"/>
            <a:chOff x="0" y="0"/>
            <a:chExt cx="121920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5381625" y="6793706"/>
            <a:ext cx="914400" cy="914400"/>
            <a:chOff x="0" y="0"/>
            <a:chExt cx="121920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381750" y="6793706"/>
            <a:ext cx="914400" cy="914400"/>
            <a:chOff x="0" y="0"/>
            <a:chExt cx="1219200" cy="1219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132292" y="0"/>
                  </a:moveTo>
                  <a:lnTo>
                    <a:pt x="1086908" y="0"/>
                  </a:lnTo>
                  <a:cubicBezTo>
                    <a:pt x="1159971" y="0"/>
                    <a:pt x="1219200" y="59229"/>
                    <a:pt x="1219200" y="132292"/>
                  </a:cubicBezTo>
                  <a:lnTo>
                    <a:pt x="1219200" y="1086908"/>
                  </a:lnTo>
                  <a:cubicBezTo>
                    <a:pt x="1219200" y="1159971"/>
                    <a:pt x="1159971" y="1219200"/>
                    <a:pt x="1086908" y="1219200"/>
                  </a:cubicBezTo>
                  <a:lnTo>
                    <a:pt x="132292" y="1219200"/>
                  </a:lnTo>
                  <a:cubicBezTo>
                    <a:pt x="59229" y="1219200"/>
                    <a:pt x="0" y="1159971"/>
                    <a:pt x="0" y="1086908"/>
                  </a:cubicBezTo>
                  <a:lnTo>
                    <a:pt x="0" y="132292"/>
                  </a:lnTo>
                  <a:cubicBezTo>
                    <a:pt x="0" y="59229"/>
                    <a:pt x="59229" y="0"/>
                    <a:pt x="132292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5629275" y="5041106"/>
            <a:ext cx="419100" cy="419100"/>
            <a:chOff x="0" y="0"/>
            <a:chExt cx="558800" cy="558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6B4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629400" y="6041231"/>
            <a:ext cx="419100" cy="419100"/>
            <a:chOff x="0" y="0"/>
            <a:chExt cx="558800" cy="558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4629150" y="5041106"/>
            <a:ext cx="419100" cy="419100"/>
            <a:chOff x="0" y="0"/>
            <a:chExt cx="558800" cy="558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5629275" y="6041231"/>
            <a:ext cx="419100" cy="419100"/>
            <a:chOff x="0" y="0"/>
            <a:chExt cx="558800" cy="558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163D2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4629150" y="6041231"/>
            <a:ext cx="419100" cy="419100"/>
            <a:chOff x="0" y="0"/>
            <a:chExt cx="558800" cy="558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163D2A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3790950" y="7898606"/>
            <a:ext cx="2857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26" b="true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IMPACTO →</a:t>
            </a:r>
          </a:p>
        </p:txBody>
      </p:sp>
      <p:sp>
        <p:nvSpPr>
          <p:cNvPr name="TextBox 68" id="68"/>
          <p:cNvSpPr txBox="true"/>
          <p:nvPr/>
        </p:nvSpPr>
        <p:spPr>
          <a:xfrm rot="-5400000">
            <a:off x="1114425" y="5069681"/>
            <a:ext cx="209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PROBABILIDAD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667750" y="2516981"/>
            <a:ext cx="4953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FF6B4A"/>
                </a:solidFill>
                <a:latin typeface="DM Sans Bold"/>
                <a:ea typeface="DM Sans Bold"/>
                <a:cs typeface="DM Sans Bold"/>
                <a:sym typeface="DM Sans Bold"/>
              </a:rPr>
              <a:t>RIESGO / SEVERIDAD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667750" y="3145631"/>
            <a:ext cx="409575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9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R1  12 · ALTO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667750" y="3517106"/>
            <a:ext cx="8096250" cy="28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Privacidad por diseño + revisión legal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667750" y="4212431"/>
            <a:ext cx="409575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9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R2  10 · MEDIO-ALTO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667750" y="4583906"/>
            <a:ext cx="8096250" cy="28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RLS + tests cross-tenant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667750" y="5279231"/>
            <a:ext cx="409575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9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R3  9 · MEDIO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667750" y="5650706"/>
            <a:ext cx="8096250" cy="28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Fallback y observabilidad OAuth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667750" y="6346031"/>
            <a:ext cx="409575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9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R4  8 · MEDIO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667750" y="6717506"/>
            <a:ext cx="8096250" cy="28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Documentación y pares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667750" y="7412831"/>
            <a:ext cx="409575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9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R5  6 · BAJO-MEDIO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8667750" y="7784306"/>
            <a:ext cx="8096250" cy="28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Capa S3 compatible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6764000" y="9744075"/>
            <a:ext cx="6667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08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09 / 13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8007399" y="3064192"/>
            <a:ext cx="419100" cy="419100"/>
            <a:chOff x="0" y="0"/>
            <a:chExt cx="558800" cy="558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6B4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8007399" y="4130992"/>
            <a:ext cx="419100" cy="419100"/>
            <a:chOff x="0" y="0"/>
            <a:chExt cx="558800" cy="558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8007399" y="5197792"/>
            <a:ext cx="419100" cy="419100"/>
            <a:chOff x="0" y="0"/>
            <a:chExt cx="558800" cy="558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163D2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8007399" y="6288881"/>
            <a:ext cx="419100" cy="419100"/>
            <a:chOff x="0" y="0"/>
            <a:chExt cx="558800" cy="558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163D2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8007399" y="7355681"/>
            <a:ext cx="419100" cy="419100"/>
            <a:chOff x="0" y="0"/>
            <a:chExt cx="558800" cy="558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Seguridad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14500" y="2571750"/>
            <a:ext cx="5429250" cy="5429250"/>
            <a:chOff x="0" y="0"/>
            <a:chExt cx="7239000" cy="723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39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7239000">
                  <a:moveTo>
                    <a:pt x="3619500" y="0"/>
                  </a:moveTo>
                  <a:cubicBezTo>
                    <a:pt x="5618495" y="0"/>
                    <a:pt x="7239000" y="1620505"/>
                    <a:pt x="7239000" y="3619500"/>
                  </a:cubicBezTo>
                  <a:cubicBezTo>
                    <a:pt x="7239000" y="5618495"/>
                    <a:pt x="5618495" y="7239000"/>
                    <a:pt x="3619500" y="7239000"/>
                  </a:cubicBezTo>
                  <a:cubicBezTo>
                    <a:pt x="1620505" y="7239000"/>
                    <a:pt x="0" y="5618495"/>
                    <a:pt x="0" y="3619500"/>
                  </a:cubicBezTo>
                  <a:cubicBezTo>
                    <a:pt x="0" y="1620505"/>
                    <a:pt x="1620505" y="0"/>
                    <a:pt x="3619500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381250" y="3238500"/>
            <a:ext cx="4095750" cy="4095750"/>
            <a:chOff x="0" y="0"/>
            <a:chExt cx="5461000" cy="546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610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5461000">
                  <a:moveTo>
                    <a:pt x="2730500" y="0"/>
                  </a:moveTo>
                  <a:cubicBezTo>
                    <a:pt x="4238513" y="0"/>
                    <a:pt x="5461000" y="1222487"/>
                    <a:pt x="5461000" y="2730500"/>
                  </a:cubicBezTo>
                  <a:cubicBezTo>
                    <a:pt x="5461000" y="4238513"/>
                    <a:pt x="4238513" y="5461000"/>
                    <a:pt x="2730500" y="5461000"/>
                  </a:cubicBezTo>
                  <a:cubicBezTo>
                    <a:pt x="1222487" y="5461000"/>
                    <a:pt x="0" y="4238513"/>
                    <a:pt x="0" y="2730500"/>
                  </a:cubicBezTo>
                  <a:cubicBezTo>
                    <a:pt x="0" y="1222487"/>
                    <a:pt x="1222487" y="0"/>
                    <a:pt x="2730500" y="0"/>
                  </a:cubicBezTo>
                  <a:close/>
                </a:path>
              </a:pathLst>
            </a:custGeom>
            <a:solidFill>
              <a:srgbClr val="4ADE8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048000" y="3905250"/>
            <a:ext cx="2762250" cy="2762250"/>
            <a:chOff x="0" y="0"/>
            <a:chExt cx="3683000" cy="368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8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3683000">
                  <a:moveTo>
                    <a:pt x="1841500" y="0"/>
                  </a:moveTo>
                  <a:cubicBezTo>
                    <a:pt x="2858532" y="0"/>
                    <a:pt x="3683000" y="824468"/>
                    <a:pt x="3683000" y="1841500"/>
                  </a:cubicBezTo>
                  <a:cubicBezTo>
                    <a:pt x="3683000" y="2858532"/>
                    <a:pt x="2858532" y="3683000"/>
                    <a:pt x="1841500" y="3683000"/>
                  </a:cubicBezTo>
                  <a:cubicBezTo>
                    <a:pt x="824468" y="3683000"/>
                    <a:pt x="0" y="2858532"/>
                    <a:pt x="0" y="1841500"/>
                  </a:cubicBezTo>
                  <a:cubicBezTo>
                    <a:pt x="0" y="824468"/>
                    <a:pt x="824468" y="0"/>
                    <a:pt x="1841500" y="0"/>
                  </a:cubicBez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3495675" y="3009900"/>
            <a:ext cx="1905000" cy="54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CI/CD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29000" y="4429125"/>
            <a:ext cx="2095500" cy="53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1950" b="true">
                <a:solidFill>
                  <a:srgbClr val="163D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  <a:p>
            <a:pPr algn="ctr">
              <a:lnSpc>
                <a:spcPts val="2047"/>
              </a:lnSpc>
            </a:pPr>
            <a:r>
              <a:rPr lang="en-US" sz="1950" b="true">
                <a:solidFill>
                  <a:srgbClr val="163D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MIDDLEWARE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76625" y="5229225"/>
            <a:ext cx="1905000" cy="62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1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  <a:p>
            <a:pPr algn="ctr">
              <a:lnSpc>
                <a:spcPts val="2441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2500" y="2581275"/>
            <a:ext cx="666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22C55E"/>
                </a:solidFill>
                <a:latin typeface="DM Sans Bold"/>
                <a:ea typeface="DM Sans Bold"/>
                <a:cs typeface="DM Sans Bold"/>
                <a:sym typeface="DM Sans Bold"/>
              </a:rPr>
              <a:t>PRIVACIDAD POR DISEÑO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72500" y="3076575"/>
            <a:ext cx="76200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Catálogo · revelación selectiva</a:t>
            </a:r>
          </a:p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consentimiento · anonimización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0" y="4867275"/>
            <a:ext cx="666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FF6B4A"/>
                </a:solidFill>
                <a:latin typeface="DM Sans Bold"/>
                <a:ea typeface="DM Sans Bold"/>
                <a:cs typeface="DM Sans Bold"/>
                <a:sym typeface="DM Sans Bold"/>
              </a:rPr>
              <a:t>CONTROLES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2500" y="5334000"/>
            <a:ext cx="8096250" cy="817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TLS 1.3   AES-256   Argon2 / BCrypt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URLs firmadas   RBAC   logs auditables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24000" y="8296275"/>
            <a:ext cx="15240000" cy="28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725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Ley 19.628  ·  Ley 21.719 (1 dic 2026)  ·  ISO 27001  ·  OWASP Top 10 / ASVS  ·  Privacy by Design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764000" y="9725025"/>
            <a:ext cx="666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10 / 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7500" y="591718"/>
            <a:ext cx="17293000" cy="9695282"/>
          </a:xfrm>
          <a:custGeom>
            <a:avLst/>
            <a:gdLst/>
            <a:ahLst/>
            <a:cxnLst/>
            <a:rect r="r" b="b" t="t" l="l"/>
            <a:pathLst>
              <a:path h="9695282" w="17293000">
                <a:moveTo>
                  <a:pt x="0" y="0"/>
                </a:moveTo>
                <a:lnTo>
                  <a:pt x="17293000" y="0"/>
                </a:lnTo>
                <a:lnTo>
                  <a:pt x="17293000" y="9695282"/>
                </a:lnTo>
                <a:lnTo>
                  <a:pt x="0" y="9695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37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6304" y="1619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 de negocio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64000" y="9725025"/>
            <a:ext cx="666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11 / 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6546" y="765084"/>
            <a:ext cx="18054909" cy="9521916"/>
          </a:xfrm>
          <a:custGeom>
            <a:avLst/>
            <a:gdLst/>
            <a:ahLst/>
            <a:cxnLst/>
            <a:rect r="r" b="b" t="t" l="l"/>
            <a:pathLst>
              <a:path h="9521916" w="18054909">
                <a:moveTo>
                  <a:pt x="0" y="0"/>
                </a:moveTo>
                <a:lnTo>
                  <a:pt x="18054908" y="0"/>
                </a:lnTo>
                <a:lnTo>
                  <a:pt x="18054908" y="9521916"/>
                </a:lnTo>
                <a:lnTo>
                  <a:pt x="0" y="9521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3581" y="524848"/>
            <a:ext cx="16345719" cy="9762152"/>
          </a:xfrm>
          <a:custGeom>
            <a:avLst/>
            <a:gdLst/>
            <a:ahLst/>
            <a:cxnLst/>
            <a:rect r="r" b="b" t="t" l="l"/>
            <a:pathLst>
              <a:path h="9762152" w="16345719">
                <a:moveTo>
                  <a:pt x="0" y="0"/>
                </a:moveTo>
                <a:lnTo>
                  <a:pt x="16345719" y="0"/>
                </a:lnTo>
                <a:lnTo>
                  <a:pt x="16345719" y="9762152"/>
                </a:lnTo>
                <a:lnTo>
                  <a:pt x="0" y="976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4991" y="291424"/>
            <a:ext cx="16718018" cy="9995576"/>
          </a:xfrm>
          <a:custGeom>
            <a:avLst/>
            <a:gdLst/>
            <a:ahLst/>
            <a:cxnLst/>
            <a:rect r="r" b="b" t="t" l="l"/>
            <a:pathLst>
              <a:path h="9995576" w="16718018">
                <a:moveTo>
                  <a:pt x="0" y="0"/>
                </a:moveTo>
                <a:lnTo>
                  <a:pt x="16718018" y="0"/>
                </a:lnTo>
                <a:lnTo>
                  <a:pt x="16718018" y="9995576"/>
                </a:lnTo>
                <a:lnTo>
                  <a:pt x="0" y="9995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9065" y="383549"/>
            <a:ext cx="16609869" cy="9903451"/>
          </a:xfrm>
          <a:custGeom>
            <a:avLst/>
            <a:gdLst/>
            <a:ahLst/>
            <a:cxnLst/>
            <a:rect r="r" b="b" t="t" l="l"/>
            <a:pathLst>
              <a:path h="9903451" w="16609869">
                <a:moveTo>
                  <a:pt x="0" y="0"/>
                </a:moveTo>
                <a:lnTo>
                  <a:pt x="16609870" y="0"/>
                </a:lnTo>
                <a:lnTo>
                  <a:pt x="16609870" y="9903451"/>
                </a:lnTo>
                <a:lnTo>
                  <a:pt x="0" y="9903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2499" y="375719"/>
            <a:ext cx="16623001" cy="9911281"/>
          </a:xfrm>
          <a:custGeom>
            <a:avLst/>
            <a:gdLst/>
            <a:ahLst/>
            <a:cxnLst/>
            <a:rect r="r" b="b" t="t" l="l"/>
            <a:pathLst>
              <a:path h="9911281" w="16623001">
                <a:moveTo>
                  <a:pt x="0" y="0"/>
                </a:moveTo>
                <a:lnTo>
                  <a:pt x="16623002" y="0"/>
                </a:lnTo>
                <a:lnTo>
                  <a:pt x="16623002" y="9911281"/>
                </a:lnTo>
                <a:lnTo>
                  <a:pt x="0" y="991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59743" y="474167"/>
            <a:ext cx="4755801" cy="9812833"/>
          </a:xfrm>
          <a:custGeom>
            <a:avLst/>
            <a:gdLst/>
            <a:ahLst/>
            <a:cxnLst/>
            <a:rect r="r" b="b" t="t" l="l"/>
            <a:pathLst>
              <a:path h="9812833" w="4755801">
                <a:moveTo>
                  <a:pt x="0" y="0"/>
                </a:moveTo>
                <a:lnTo>
                  <a:pt x="4755801" y="0"/>
                </a:lnTo>
                <a:lnTo>
                  <a:pt x="4755801" y="9812833"/>
                </a:lnTo>
                <a:lnTo>
                  <a:pt x="0" y="9812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72869" y="474167"/>
            <a:ext cx="4742261" cy="9812833"/>
          </a:xfrm>
          <a:custGeom>
            <a:avLst/>
            <a:gdLst/>
            <a:ahLst/>
            <a:cxnLst/>
            <a:rect r="r" b="b" t="t" l="l"/>
            <a:pathLst>
              <a:path h="9812833" w="4742261">
                <a:moveTo>
                  <a:pt x="0" y="0"/>
                </a:moveTo>
                <a:lnTo>
                  <a:pt x="4742262" y="0"/>
                </a:lnTo>
                <a:lnTo>
                  <a:pt x="4742262" y="9812833"/>
                </a:lnTo>
                <a:lnTo>
                  <a:pt x="0" y="9812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72377" y="683324"/>
            <a:ext cx="4721210" cy="9603676"/>
          </a:xfrm>
          <a:custGeom>
            <a:avLst/>
            <a:gdLst/>
            <a:ahLst/>
            <a:cxnLst/>
            <a:rect r="r" b="b" t="t" l="l"/>
            <a:pathLst>
              <a:path h="9603676" w="4721210">
                <a:moveTo>
                  <a:pt x="0" y="0"/>
                </a:moveTo>
                <a:lnTo>
                  <a:pt x="4721211" y="0"/>
                </a:lnTo>
                <a:lnTo>
                  <a:pt x="4721211" y="9603676"/>
                </a:lnTo>
                <a:lnTo>
                  <a:pt x="0" y="9603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08189" y="652596"/>
            <a:ext cx="4583532" cy="9634404"/>
          </a:xfrm>
          <a:custGeom>
            <a:avLst/>
            <a:gdLst/>
            <a:ahLst/>
            <a:cxnLst/>
            <a:rect r="r" b="b" t="t" l="l"/>
            <a:pathLst>
              <a:path h="9634404" w="4583532">
                <a:moveTo>
                  <a:pt x="0" y="0"/>
                </a:moveTo>
                <a:lnTo>
                  <a:pt x="4583532" y="0"/>
                </a:lnTo>
                <a:lnTo>
                  <a:pt x="4583532" y="9634404"/>
                </a:lnTo>
                <a:lnTo>
                  <a:pt x="0" y="9634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61492" y="652596"/>
            <a:ext cx="4588665" cy="9634404"/>
          </a:xfrm>
          <a:custGeom>
            <a:avLst/>
            <a:gdLst/>
            <a:ahLst/>
            <a:cxnLst/>
            <a:rect r="r" b="b" t="t" l="l"/>
            <a:pathLst>
              <a:path h="9634404" w="4588665">
                <a:moveTo>
                  <a:pt x="0" y="0"/>
                </a:moveTo>
                <a:lnTo>
                  <a:pt x="4588665" y="0"/>
                </a:lnTo>
                <a:lnTo>
                  <a:pt x="4588665" y="9634404"/>
                </a:lnTo>
                <a:lnTo>
                  <a:pt x="0" y="9634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933450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2500" y="3571875"/>
            <a:ext cx="4857750" cy="2238375"/>
            <a:chOff x="0" y="0"/>
            <a:chExt cx="6477000" cy="2984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77000" cy="2984500"/>
            </a:xfrm>
            <a:custGeom>
              <a:avLst/>
              <a:gdLst/>
              <a:ahLst/>
              <a:cxnLst/>
              <a:rect r="r" b="b" t="t" l="l"/>
              <a:pathLst>
                <a:path h="2984500" w="6477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2939677"/>
                  </a:lnTo>
                  <a:cubicBezTo>
                    <a:pt x="6477000" y="2951564"/>
                    <a:pt x="6472277" y="2962965"/>
                    <a:pt x="6463871" y="2971372"/>
                  </a:cubicBezTo>
                  <a:cubicBezTo>
                    <a:pt x="6455465" y="2979778"/>
                    <a:pt x="6444064" y="2984500"/>
                    <a:pt x="6432176" y="2984500"/>
                  </a:cubicBezTo>
                  <a:lnTo>
                    <a:pt x="44824" y="2984500"/>
                  </a:lnTo>
                  <a:cubicBezTo>
                    <a:pt x="32936" y="2984500"/>
                    <a:pt x="21535" y="2979778"/>
                    <a:pt x="13129" y="2971372"/>
                  </a:cubicBezTo>
                  <a:cubicBezTo>
                    <a:pt x="4722" y="2962965"/>
                    <a:pt x="0" y="2951564"/>
                    <a:pt x="0" y="2939677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715125" y="3571875"/>
            <a:ext cx="4857750" cy="2238375"/>
            <a:chOff x="0" y="0"/>
            <a:chExt cx="6477000" cy="2984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77000" cy="2984500"/>
            </a:xfrm>
            <a:custGeom>
              <a:avLst/>
              <a:gdLst/>
              <a:ahLst/>
              <a:cxnLst/>
              <a:rect r="r" b="b" t="t" l="l"/>
              <a:pathLst>
                <a:path h="2984500" w="6477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2939677"/>
                  </a:lnTo>
                  <a:cubicBezTo>
                    <a:pt x="6477000" y="2951564"/>
                    <a:pt x="6472277" y="2962965"/>
                    <a:pt x="6463871" y="2971372"/>
                  </a:cubicBezTo>
                  <a:cubicBezTo>
                    <a:pt x="6455465" y="2979778"/>
                    <a:pt x="6444064" y="2984500"/>
                    <a:pt x="6432176" y="2984500"/>
                  </a:cubicBezTo>
                  <a:lnTo>
                    <a:pt x="44824" y="2984500"/>
                  </a:lnTo>
                  <a:cubicBezTo>
                    <a:pt x="32936" y="2984500"/>
                    <a:pt x="21535" y="2979778"/>
                    <a:pt x="13129" y="2971372"/>
                  </a:cubicBezTo>
                  <a:cubicBezTo>
                    <a:pt x="4722" y="2962965"/>
                    <a:pt x="0" y="2951564"/>
                    <a:pt x="0" y="2939677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F7F9F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477750" y="3571875"/>
            <a:ext cx="4857750" cy="2238375"/>
            <a:chOff x="0" y="0"/>
            <a:chExt cx="6477000" cy="2984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77000" cy="2984500"/>
            </a:xfrm>
            <a:custGeom>
              <a:avLst/>
              <a:gdLst/>
              <a:ahLst/>
              <a:cxnLst/>
              <a:rect r="r" b="b" t="t" l="l"/>
              <a:pathLst>
                <a:path h="2984500" w="6477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2939677"/>
                  </a:lnTo>
                  <a:cubicBezTo>
                    <a:pt x="6477000" y="2951564"/>
                    <a:pt x="6472277" y="2962965"/>
                    <a:pt x="6463871" y="2971372"/>
                  </a:cubicBezTo>
                  <a:cubicBezTo>
                    <a:pt x="6455465" y="2979778"/>
                    <a:pt x="6444064" y="2984500"/>
                    <a:pt x="6432176" y="2984500"/>
                  </a:cubicBezTo>
                  <a:lnTo>
                    <a:pt x="44824" y="2984500"/>
                  </a:lnTo>
                  <a:cubicBezTo>
                    <a:pt x="32936" y="2984500"/>
                    <a:pt x="21535" y="2979778"/>
                    <a:pt x="13129" y="2971372"/>
                  </a:cubicBezTo>
                  <a:cubicBezTo>
                    <a:pt x="4722" y="2962965"/>
                    <a:pt x="0" y="2951564"/>
                    <a:pt x="0" y="2939677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DCFCE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AutoShape 12" id="12"/>
          <p:cNvSpPr/>
          <p:nvPr/>
        </p:nvSpPr>
        <p:spPr>
          <a:xfrm>
            <a:off x="5905500" y="4695825"/>
            <a:ext cx="619125" cy="0"/>
          </a:xfrm>
          <a:prstGeom prst="line">
            <a:avLst/>
          </a:prstGeom>
          <a:ln cap="rnd" w="38100">
            <a:solidFill>
              <a:srgbClr val="FF6B4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11668125" y="4695825"/>
            <a:ext cx="619125" cy="0"/>
          </a:xfrm>
          <a:prstGeom prst="line">
            <a:avLst/>
          </a:prstGeom>
          <a:ln cap="rnd" w="38100">
            <a:solidFill>
              <a:srgbClr val="FF6B4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1476375" y="3962400"/>
            <a:ext cx="381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22C55E"/>
                </a:solidFill>
                <a:latin typeface="DM Sans Bold"/>
                <a:ea typeface="DM Sans Bold"/>
                <a:cs typeface="DM Sans Bold"/>
                <a:sym typeface="DM Sans Bold"/>
              </a:rPr>
              <a:t>ESCALABILIDAD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6375" y="4552950"/>
            <a:ext cx="4000500" cy="69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26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Tecnología SaaS</a:t>
            </a:r>
          </a:p>
          <a:p>
            <a:pPr algn="l">
              <a:lnSpc>
                <a:spcPts val="2756"/>
              </a:lnSpc>
            </a:pPr>
            <a:r>
              <a:rPr lang="en-US" sz="26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multi-institución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9000" y="3962400"/>
            <a:ext cx="381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FF6B4A"/>
                </a:solidFill>
                <a:latin typeface="DM Sans Bold"/>
                <a:ea typeface="DM Sans Bold"/>
                <a:cs typeface="DM Sans Bold"/>
                <a:sym typeface="DM Sans Bold"/>
              </a:rPr>
              <a:t>COMUNIDAD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39000" y="4552950"/>
            <a:ext cx="4095750" cy="69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26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Sustentabilidad y</a:t>
            </a:r>
          </a:p>
          <a:p>
            <a:pPr algn="l">
              <a:lnSpc>
                <a:spcPts val="2756"/>
              </a:lnSpc>
            </a:pPr>
            <a:r>
              <a:rPr lang="en-US" sz="26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cultura de restitución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49250" y="3962400"/>
            <a:ext cx="381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22C55E"/>
                </a:solidFill>
                <a:latin typeface="DM Sans Bold"/>
                <a:ea typeface="DM Sans Bold"/>
                <a:cs typeface="DM Sans Bold"/>
                <a:sym typeface="DM Sans Bold"/>
              </a:rPr>
              <a:t>CONFIANZA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49250" y="4552950"/>
            <a:ext cx="4000500" cy="69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26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Seguridad y</a:t>
            </a:r>
          </a:p>
          <a:p>
            <a:pPr algn="l">
              <a:lnSpc>
                <a:spcPts val="2756"/>
              </a:lnSpc>
            </a:pPr>
            <a:r>
              <a:rPr lang="en-US" sz="2625" b="true">
                <a:solidFill>
                  <a:srgbClr val="1721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cumplimiento legal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10250" y="6762750"/>
            <a:ext cx="6667500" cy="884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2"/>
              </a:lnSpc>
            </a:pPr>
            <a:r>
              <a:rPr lang="en-US" sz="6450" b="true">
                <a:solidFill>
                  <a:srgbClr val="22C5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BackToMe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764000" y="9725025"/>
            <a:ext cx="666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66736C"/>
                </a:solidFill>
                <a:latin typeface="DM Sans Bold"/>
                <a:ea typeface="DM Sans Bold"/>
                <a:cs typeface="DM Sans Bold"/>
                <a:sym typeface="DM Sans Bold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DAHUDQ5yKcQ</dc:identifier>
  <dcterms:modified xsi:type="dcterms:W3CDTF">2011-08-01T06:04:30Z</dcterms:modified>
  <cp:revision>1</cp:revision>
  <dc:title>BackToMe - Presentación</dc:title>
</cp:coreProperties>
</file>