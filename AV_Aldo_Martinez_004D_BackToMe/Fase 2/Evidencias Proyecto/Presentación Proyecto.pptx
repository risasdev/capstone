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Space Grotesk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9JYQl7swkH06c7Cey76B2wvy4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italic.fntdata"/><Relationship Id="rId11" Type="http://schemas.openxmlformats.org/officeDocument/2006/relationships/slide" Target="slides/slide7.xml"/><Relationship Id="rId22" Type="http://schemas.openxmlformats.org/officeDocument/2006/relationships/font" Target="fonts/SpaceGrotesk-regular.fntdata"/><Relationship Id="rId10" Type="http://schemas.openxmlformats.org/officeDocument/2006/relationships/slide" Target="slides/slide6.xml"/><Relationship Id="rId21" Type="http://schemas.openxmlformats.org/officeDocument/2006/relationships/font" Target="fonts/IBMPlexSans-boldItalic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SpaceGrotesk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BMPlexSans-bold.fntdata"/><Relationship Id="rId6" Type="http://schemas.openxmlformats.org/officeDocument/2006/relationships/slide" Target="slides/slide2.xml"/><Relationship Id="rId18" Type="http://schemas.openxmlformats.org/officeDocument/2006/relationships/font" Target="fonts/IBMPlex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53718624b428c802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h53718624b428c802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h53718624b428c802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53718624b428c802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h53718624b428c802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h53718624b428c802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backlog v2.0 tiene 17 historias de usuario agrupadas en 6 épicas: Administración global, Autenticación y usuarios, Inventario personal y QR, Catálogo ciego y pañol, Matching y retiro express, y Automatización y auditoría. Se planificaron en 7 sprints. Revisar el total de story points antes de presentar: el resumen del Excel indica 78 y la hoja de historias suma 73.</a:t>
            </a:r>
            <a:endParaRPr/>
          </a:p>
        </p:txBody>
      </p:sp>
      <p:sp>
        <p:nvSpPr>
          <p:cNvPr id="118" name="Google Shape;1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53718624b428c802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h53718624b428c802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h53718624b428c802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53718624b428c80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h53718624b428c80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h53718624b428c80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53718624b428c802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h53718624b428c802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h53718624b428c802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Cierre. Abrir espacio para preguntas del panel.</a:t>
            </a:r>
            <a:endParaRPr/>
          </a:p>
        </p:txBody>
      </p:sp>
      <p:sp>
        <p:nvSpPr>
          <p:cNvPr id="155" name="Google Shape;15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6F7F4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/>
          <p:nvPr>
            <p:ph type="title"/>
          </p:nvPr>
        </p:nvSpPr>
        <p:spPr>
          <a:xfrm>
            <a:off x="812800" y="1127720"/>
            <a:ext cx="10566400" cy="502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600"/>
              <a:buFont typeface="Space Grotesk"/>
              <a:buNone/>
              <a:defRPr sz="3600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" type="body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213D"/>
              </a:buClr>
              <a:buSzPts val="1600"/>
              <a:buNone/>
              <a:defRPr sz="1600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4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12800" y="1127720"/>
            <a:ext cx="10566400" cy="502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600"/>
              <a:buFont typeface="Space Grotesk"/>
              <a:buNone/>
              <a:defRPr b="0" i="0" sz="3600" u="none" cap="none" strike="noStrike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7FD1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D1AE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7FD1AE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CAPSTONE </a:t>
            </a:r>
            <a:r>
              <a:rPr b="1" lang="en-US">
                <a:solidFill>
                  <a:srgbClr val="7FD1AE"/>
                </a:solidFill>
                <a:latin typeface="IBM Plex Sans"/>
                <a:ea typeface="IBM Plex Sans"/>
                <a:cs typeface="IBM Plex Sans"/>
                <a:sym typeface="IBM Plex Sans"/>
              </a:rPr>
              <a:t>004D</a:t>
            </a:r>
            <a:r>
              <a:rPr b="1" i="0" lang="en-US" sz="1400" u="none" cap="none" strike="noStrike">
                <a:solidFill>
                  <a:srgbClr val="7FD1AE"/>
                </a:solidFill>
                <a:latin typeface="IBM Plex Sans"/>
                <a:ea typeface="IBM Plex Sans"/>
                <a:cs typeface="IBM Plex Sans"/>
                <a:sym typeface="IBM Plex Sans"/>
              </a:rPr>
              <a:t> · DUOC UC SEDE ANTONIO VARAS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" name="Google Shape;23;p1"/>
          <p:cNvSpPr txBox="1"/>
          <p:nvPr>
            <p:ph type="title"/>
          </p:nvPr>
        </p:nvSpPr>
        <p:spPr>
          <a:xfrm>
            <a:off x="812800" y="2250480"/>
            <a:ext cx="10883392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7F4"/>
              </a:buClr>
              <a:buSzPts val="9000"/>
              <a:buFont typeface="Space Grotesk"/>
              <a:buNone/>
            </a:pPr>
            <a:r>
              <a:rPr b="1" i="0" lang="en-US" sz="9000">
                <a:solidFill>
                  <a:srgbClr val="F6F7F4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BackToMe</a:t>
            </a:r>
            <a:endParaRPr sz="9000"/>
          </a:p>
        </p:txBody>
      </p:sp>
      <p:sp>
        <p:nvSpPr>
          <p:cNvPr id="24" name="Google Shape;24;p1"/>
          <p:cNvSpPr/>
          <p:nvPr/>
        </p:nvSpPr>
        <p:spPr>
          <a:xfrm>
            <a:off x="812800" y="3596680"/>
            <a:ext cx="8502650" cy="751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8E3"/>
              </a:buClr>
              <a:buSzPts val="2200"/>
              <a:buFont typeface="IBM Plex Sans"/>
              <a:buNone/>
            </a:pPr>
            <a:r>
              <a:rPr b="0" i="0" lang="en-US" sz="2200" u="none" cap="none" strike="noStrike">
                <a:solidFill>
                  <a:srgbClr val="CFD8E3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Plataforma SaaS multi-tenant para la gestión, trazabilidad y custodia de objetos perdidos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12800" y="5511800"/>
            <a:ext cx="3681177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D8E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CFD8E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Mauricio Urrutia · Lucero Leyva · Renato Caro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D8E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CFD8E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Ingeniería en Informática</a:t>
            </a:r>
            <a:endParaRPr b="0" i="0" sz="1400" u="none" cap="none" strike="noStrike">
              <a:solidFill>
                <a:srgbClr val="CFD8E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D8E3"/>
              </a:buClr>
              <a:buSzPts val="1400"/>
              <a:buFont typeface="IBM Plex Sans"/>
              <a:buNone/>
            </a:pPr>
            <a:r>
              <a:rPr lang="en-US">
                <a:solidFill>
                  <a:srgbClr val="CFD8E3"/>
                </a:solidFill>
                <a:latin typeface="IBM Plex Sans"/>
                <a:ea typeface="IBM Plex Sans"/>
                <a:cs typeface="IBM Plex Sans"/>
                <a:sym typeface="IBM Plex Sans"/>
              </a:rPr>
              <a:t>Aldo Martinez</a:t>
            </a:r>
            <a:endParaRPr>
              <a:solidFill>
                <a:srgbClr val="CFD8E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0044152" y="5796359"/>
            <a:ext cx="1335048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D8E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CFD8E3"/>
                </a:solidFill>
                <a:latin typeface="IBM Plex Sans"/>
                <a:ea typeface="IBM Plex Sans"/>
                <a:cs typeface="IBM Plex Sans"/>
                <a:sym typeface="IBM Plex Sans"/>
              </a:rPr>
              <a:t>Octubre 2026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4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7A5C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1F7A5C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CONTENIDO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" name="Google Shape;33;p2"/>
          <p:cNvSpPr txBox="1"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600"/>
              <a:buFont typeface="Space Grotesk"/>
              <a:buNone/>
            </a:pPr>
            <a:r>
              <a:rPr b="1" i="0" lang="en-US" sz="3600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rPr>
              <a:t>Índice</a:t>
            </a:r>
            <a:endParaRPr sz="3600"/>
          </a:p>
        </p:txBody>
      </p:sp>
      <p:cxnSp>
        <p:nvCxnSpPr>
          <p:cNvPr id="34" name="Google Shape;34;p2"/>
          <p:cNvCxnSpPr/>
          <p:nvPr/>
        </p:nvCxnSpPr>
        <p:spPr>
          <a:xfrm>
            <a:off x="812800" y="2510631"/>
            <a:ext cx="5283200" cy="0"/>
          </a:xfrm>
          <a:prstGeom prst="straightConnector1">
            <a:avLst/>
          </a:prstGeom>
          <a:noFill/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2"/>
          <p:cNvSpPr/>
          <p:nvPr/>
        </p:nvSpPr>
        <p:spPr>
          <a:xfrm>
            <a:off x="812800" y="1986161"/>
            <a:ext cx="368856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7A5C"/>
              </a:buClr>
              <a:buSzPts val="2200"/>
              <a:buFont typeface="Space Grotesk"/>
              <a:buNone/>
            </a:pPr>
            <a:r>
              <a:rPr b="1" i="0" lang="en-US" sz="2200" u="none" cap="none" strike="noStrike">
                <a:solidFill>
                  <a:srgbClr val="1F7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323380" y="2021681"/>
            <a:ext cx="1582103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Introducción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7" name="Google Shape;37;p2"/>
          <p:cNvCxnSpPr/>
          <p:nvPr/>
        </p:nvCxnSpPr>
        <p:spPr>
          <a:xfrm>
            <a:off x="6096000" y="2510631"/>
            <a:ext cx="5283200" cy="0"/>
          </a:xfrm>
          <a:prstGeom prst="straightConnector1">
            <a:avLst/>
          </a:prstGeom>
          <a:noFill/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2"/>
          <p:cNvSpPr/>
          <p:nvPr/>
        </p:nvSpPr>
        <p:spPr>
          <a:xfrm>
            <a:off x="6096000" y="1986161"/>
            <a:ext cx="41850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7A5C"/>
              </a:buClr>
              <a:buSzPts val="2200"/>
              <a:buFont typeface="Space Grotesk"/>
              <a:buNone/>
            </a:pPr>
            <a:r>
              <a:rPr b="1" i="0" lang="en-US" sz="2200" u="none" cap="none" strike="noStrike">
                <a:solidFill>
                  <a:srgbClr val="1F7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647954" y="2021681"/>
            <a:ext cx="1619964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Casos de uso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812800" y="3041452"/>
            <a:ext cx="5283200" cy="0"/>
          </a:xfrm>
          <a:prstGeom prst="straightConnector1">
            <a:avLst/>
          </a:prstGeom>
          <a:noFill/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"/>
          <p:cNvSpPr/>
          <p:nvPr/>
        </p:nvSpPr>
        <p:spPr>
          <a:xfrm>
            <a:off x="812800" y="2516981"/>
            <a:ext cx="416481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7A5C"/>
              </a:buClr>
              <a:buSzPts val="2200"/>
              <a:buFont typeface="Space Grotesk"/>
              <a:buNone/>
            </a:pPr>
            <a:r>
              <a:rPr b="1" i="0" lang="en-US" sz="2200" u="none" cap="none" strike="noStrike">
                <a:solidFill>
                  <a:srgbClr val="1F7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363067" y="2552502"/>
            <a:ext cx="3070503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Modelo de base de datos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6096000" y="3041452"/>
            <a:ext cx="5283200" cy="0"/>
          </a:xfrm>
          <a:prstGeom prst="straightConnector1">
            <a:avLst/>
          </a:prstGeom>
          <a:noFill/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"/>
          <p:cNvSpPr/>
          <p:nvPr/>
        </p:nvSpPr>
        <p:spPr>
          <a:xfrm>
            <a:off x="6096000" y="2516981"/>
            <a:ext cx="424577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7A5C"/>
              </a:buClr>
              <a:buSzPts val="2200"/>
              <a:buFont typeface="Space Grotesk"/>
              <a:buNone/>
            </a:pPr>
            <a:r>
              <a:rPr b="1" i="0" lang="en-US" sz="2200" u="none" cap="none" strike="noStrike">
                <a:solidFill>
                  <a:srgbClr val="1F7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653014" y="2552502"/>
            <a:ext cx="2446139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Historias de usuario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812800" y="3572272"/>
            <a:ext cx="5283200" cy="0"/>
          </a:xfrm>
          <a:prstGeom prst="straightConnector1">
            <a:avLst/>
          </a:prstGeom>
          <a:noFill/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2"/>
          <p:cNvSpPr/>
          <p:nvPr/>
        </p:nvSpPr>
        <p:spPr>
          <a:xfrm>
            <a:off x="812800" y="3047802"/>
            <a:ext cx="421124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7A5C"/>
              </a:buClr>
              <a:buSzPts val="2200"/>
              <a:buFont typeface="Space Grotesk"/>
              <a:buNone/>
            </a:pPr>
            <a:r>
              <a:rPr b="1" i="0" lang="en-US" sz="2200" u="none" cap="none" strike="noStrike">
                <a:solidFill>
                  <a:srgbClr val="1F7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366937" y="3083322"/>
            <a:ext cx="3126224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Diagrama de arquitectura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6096000" y="3572272"/>
            <a:ext cx="5283200" cy="0"/>
          </a:xfrm>
          <a:prstGeom prst="straightConnector1">
            <a:avLst/>
          </a:prstGeom>
          <a:noFill/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2"/>
          <p:cNvSpPr/>
          <p:nvPr/>
        </p:nvSpPr>
        <p:spPr>
          <a:xfrm>
            <a:off x="6096000" y="3047802"/>
            <a:ext cx="396359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7A5C"/>
              </a:buClr>
              <a:buSzPts val="2200"/>
              <a:buFont typeface="Space Grotesk"/>
              <a:buNone/>
            </a:pPr>
            <a:r>
              <a:rPr b="1" i="0" lang="en-US" sz="2200" u="none" cap="none" strike="noStrike">
                <a:solidFill>
                  <a:srgbClr val="1F7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07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629499" y="3083322"/>
            <a:ext cx="2164437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Mapa tecnológico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2" name="Google Shape;52;p2"/>
          <p:cNvCxnSpPr/>
          <p:nvPr/>
        </p:nvCxnSpPr>
        <p:spPr>
          <a:xfrm>
            <a:off x="812800" y="4103092"/>
            <a:ext cx="5283200" cy="0"/>
          </a:xfrm>
          <a:prstGeom prst="straightConnector1">
            <a:avLst/>
          </a:prstGeom>
          <a:noFill/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2"/>
          <p:cNvSpPr/>
          <p:nvPr/>
        </p:nvSpPr>
        <p:spPr>
          <a:xfrm>
            <a:off x="812800" y="3578622"/>
            <a:ext cx="43053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7A5C"/>
              </a:buClr>
              <a:buSzPts val="2200"/>
              <a:buFont typeface="Space Grotesk"/>
              <a:buNone/>
            </a:pPr>
            <a:r>
              <a:rPr b="1" i="0" lang="en-US" sz="2200" u="none" cap="none" strike="noStrike">
                <a:solidFill>
                  <a:srgbClr val="1F7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374775" y="3614142"/>
            <a:ext cx="3298984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Diagrama de </a:t>
            </a:r>
            <a:r>
              <a:rPr lang="en-US" sz="1800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comunicación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5" name="Google Shape;55;p2"/>
          <p:cNvCxnSpPr/>
          <p:nvPr/>
        </p:nvCxnSpPr>
        <p:spPr>
          <a:xfrm>
            <a:off x="6096000" y="4103092"/>
            <a:ext cx="5283200" cy="0"/>
          </a:xfrm>
          <a:prstGeom prst="straightConnector1">
            <a:avLst/>
          </a:prstGeom>
          <a:noFill/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2"/>
          <p:cNvSpPr/>
          <p:nvPr/>
        </p:nvSpPr>
        <p:spPr>
          <a:xfrm>
            <a:off x="6096000" y="3578622"/>
            <a:ext cx="41850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7A5C"/>
              </a:buClr>
              <a:buSzPts val="2200"/>
              <a:buFont typeface="Space Grotesk"/>
              <a:buNone/>
            </a:pPr>
            <a:r>
              <a:rPr b="1" i="0" lang="en-US" sz="2200" u="none" cap="none" strike="noStrike">
                <a:solidFill>
                  <a:srgbClr val="1F7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08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647954" y="3614142"/>
            <a:ext cx="2580323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Flujo de la aplicación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4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600"/>
              <a:buFont typeface="Space Grotesk"/>
              <a:buNone/>
            </a:pPr>
            <a:r>
              <a:rPr b="1" i="0" lang="en-US" sz="3600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rPr>
              <a:t>¿Qué es BackToMe?</a:t>
            </a:r>
            <a:endParaRPr sz="3600"/>
          </a:p>
        </p:txBody>
      </p:sp>
      <p:sp>
        <p:nvSpPr>
          <p:cNvPr id="64" name="Google Shape;64;p3"/>
          <p:cNvSpPr/>
          <p:nvPr/>
        </p:nvSpPr>
        <p:spPr>
          <a:xfrm>
            <a:off x="812800" y="2526109"/>
            <a:ext cx="9810750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2000"/>
              <a:buFont typeface="IBM Plex Sans"/>
              <a:buNone/>
            </a:pPr>
            <a:r>
              <a:rPr b="0" i="0" lang="en-US" sz="2000" u="none" cap="none" strike="noStrike">
                <a:solidFill>
                  <a:srgbClr val="2D3748"/>
                </a:solidFill>
                <a:latin typeface="IBM Plex Sans"/>
                <a:ea typeface="IBM Plex Sans"/>
                <a:cs typeface="IBM Plex Sans"/>
                <a:sym typeface="IBM Plex Sans"/>
              </a:rPr>
              <a:t>Una plataforma SaaS que reemplaza los cuadernos de guardia y las publicaciones en redes sociales por un proceso digital, privado y trazable para devolver objetos perdidos en universidades y empresas.</a:t>
            </a:r>
            <a:endParaRPr b="0" i="0" sz="2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19150" y="4456609"/>
            <a:ext cx="2476500" cy="1379041"/>
          </a:xfrm>
          <a:prstGeom prst="roundRect">
            <a:avLst>
              <a:gd fmla="val 6907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8700" y="4666159"/>
            <a:ext cx="2119122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rPr>
              <a:t>Catálogo ciego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28700" y="4986139"/>
            <a:ext cx="2119122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Oculta rasgos distintivos y valida al dueño con preguntas de desempate.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511550" y="4456609"/>
            <a:ext cx="2476500" cy="1379041"/>
          </a:xfrm>
          <a:prstGeom prst="roundRect">
            <a:avLst>
              <a:gd fmla="val 6907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721100" y="4666159"/>
            <a:ext cx="2119122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rPr>
              <a:t>Mis Bienes + QR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721100" y="4986139"/>
            <a:ext cx="2119122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Enrolamiento preventivo de hasta 30 objetos con sticker QR firmado.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203950" y="4456609"/>
            <a:ext cx="2476500" cy="1379041"/>
          </a:xfrm>
          <a:prstGeom prst="roundRect">
            <a:avLst>
              <a:gd fmla="val 6907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413500" y="4666159"/>
            <a:ext cx="2119122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Acta digital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413500" y="4986139"/>
            <a:ext cx="2119122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Entrega con firma</a:t>
            </a:r>
            <a:r>
              <a:rPr lang="en-US" sz="12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, </a:t>
            </a: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hash SHA-256 que cierra la cadena de custodia.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896350" y="4456609"/>
            <a:ext cx="2476500" cy="1379041"/>
          </a:xfrm>
          <a:prstGeom prst="roundRect">
            <a:avLst>
              <a:gd fmla="val 6907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105900" y="4666159"/>
            <a:ext cx="2119122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Multi-tenant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105900" y="4986139"/>
            <a:ext cx="2119122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institución aislada con Row-Level Security en PostgreSQL.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EE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303975" y="154970"/>
            <a:ext cx="10883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ct val="100000"/>
              <a:buFont typeface="Space Grotesk"/>
              <a:buNone/>
            </a:pPr>
            <a:r>
              <a:rPr b="1" i="0" lang="en-US" sz="3600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Modelo de base de datos</a:t>
            </a:r>
            <a:endParaRPr sz="3600"/>
          </a:p>
        </p:txBody>
      </p:sp>
      <p:pic>
        <p:nvPicPr>
          <p:cNvPr descr="Database" id="83" name="Google Shape;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318254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3189327" y="3919141"/>
            <a:ext cx="5813346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Inserta aquí la imagen del modelo de base de datos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506272" y="4330601"/>
            <a:ext cx="517945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Reemplaza este recuadro por la imagen exportada (PNG o SVG)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6" name="Google Shape;86;p4" title="diagrama_db.png"/>
          <p:cNvPicPr preferRelativeResize="0"/>
          <p:nvPr/>
        </p:nvPicPr>
        <p:blipFill rotWithShape="1">
          <a:blip r:embed="rId4">
            <a:alphaModFix/>
          </a:blip>
          <a:srcRect b="20698" l="0" r="46309" t="0"/>
          <a:stretch/>
        </p:blipFill>
        <p:spPr>
          <a:xfrm>
            <a:off x="303975" y="683275"/>
            <a:ext cx="10334694" cy="599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EE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type="title"/>
          </p:nvPr>
        </p:nvSpPr>
        <p:spPr>
          <a:xfrm>
            <a:off x="346675" y="94170"/>
            <a:ext cx="10883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ct val="100000"/>
              <a:buFont typeface="Space Grotesk"/>
              <a:buNone/>
            </a:pPr>
            <a:r>
              <a:rPr b="1" i="0" lang="en-US" sz="3600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rPr>
              <a:t>Diagrama de arquitectura</a:t>
            </a:r>
            <a:endParaRPr sz="3600"/>
          </a:p>
        </p:txBody>
      </p:sp>
      <p:pic>
        <p:nvPicPr>
          <p:cNvPr id="93" name="Google Shape;93;p5" title="Diagrama_Arquitectura.png"/>
          <p:cNvPicPr preferRelativeResize="0"/>
          <p:nvPr/>
        </p:nvPicPr>
        <p:blipFill rotWithShape="1">
          <a:blip r:embed="rId3">
            <a:alphaModFix/>
          </a:blip>
          <a:srcRect b="60538" l="0" r="0" t="0"/>
          <a:stretch/>
        </p:blipFill>
        <p:spPr>
          <a:xfrm>
            <a:off x="0" y="1313175"/>
            <a:ext cx="12191998" cy="448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EE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53718624b428c802_0_23"/>
          <p:cNvSpPr txBox="1"/>
          <p:nvPr>
            <p:ph type="title"/>
          </p:nvPr>
        </p:nvSpPr>
        <p:spPr>
          <a:xfrm>
            <a:off x="346675" y="94170"/>
            <a:ext cx="10883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ct val="100000"/>
              <a:buFont typeface="Space Grotesk"/>
              <a:buNone/>
            </a:pPr>
            <a:r>
              <a:rPr b="1" i="0" lang="en-US" sz="3600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rPr>
              <a:t>Diagrama de arquitectura</a:t>
            </a:r>
            <a:endParaRPr sz="3600"/>
          </a:p>
        </p:txBody>
      </p:sp>
      <p:pic>
        <p:nvPicPr>
          <p:cNvPr id="100" name="Google Shape;100;h53718624b428c802_0_23" title="Diagrama_Arquitectura.png"/>
          <p:cNvPicPr preferRelativeResize="0"/>
          <p:nvPr/>
        </p:nvPicPr>
        <p:blipFill rotWithShape="1">
          <a:blip r:embed="rId3">
            <a:alphaModFix/>
          </a:blip>
          <a:srcRect b="18708" l="2160" r="2256" t="35496"/>
          <a:stretch/>
        </p:blipFill>
        <p:spPr>
          <a:xfrm>
            <a:off x="0" y="622475"/>
            <a:ext cx="12191998" cy="5449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EE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53718624b428c802_0_29"/>
          <p:cNvSpPr txBox="1"/>
          <p:nvPr>
            <p:ph type="title"/>
          </p:nvPr>
        </p:nvSpPr>
        <p:spPr>
          <a:xfrm>
            <a:off x="366950" y="73895"/>
            <a:ext cx="10883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ct val="100000"/>
              <a:buFont typeface="Space Grotesk"/>
              <a:buNone/>
            </a:pPr>
            <a:r>
              <a:rPr b="1" i="0" lang="en-US" sz="3600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rPr>
              <a:t>Diagrama de </a:t>
            </a:r>
            <a:r>
              <a:rPr b="1" lang="en-US"/>
              <a:t>Comunicaciones</a:t>
            </a:r>
            <a:endParaRPr sz="3600"/>
          </a:p>
        </p:txBody>
      </p:sp>
      <p:pic>
        <p:nvPicPr>
          <p:cNvPr id="107" name="Google Shape;107;h53718624b428c802_0_29" title="Diagrama_Comunic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950" y="602200"/>
            <a:ext cx="10515876" cy="611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4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204825" y="134695"/>
            <a:ext cx="10883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ct val="100000"/>
              <a:buFont typeface="Space Grotesk"/>
              <a:buNone/>
            </a:pPr>
            <a:r>
              <a:rPr b="1" i="0" lang="en-US" sz="3600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rPr>
              <a:t>Casos de uso</a:t>
            </a:r>
            <a:endParaRPr sz="3600"/>
          </a:p>
        </p:txBody>
      </p:sp>
      <p:pic>
        <p:nvPicPr>
          <p:cNvPr id="114" name="Google Shape;114;p7" title="Casos de Uso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0625" y="1"/>
            <a:ext cx="5270496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4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600"/>
              <a:buFont typeface="Space Grotesk"/>
              <a:buNone/>
            </a:pPr>
            <a:r>
              <a:rPr b="1" i="0" lang="en-US" sz="3600">
                <a:solidFill>
                  <a:srgbClr val="14213D"/>
                </a:solidFill>
                <a:latin typeface="Space Grotesk"/>
                <a:ea typeface="Space Grotesk"/>
                <a:cs typeface="Space Grotesk"/>
                <a:sym typeface="Space Grotesk"/>
              </a:rPr>
              <a:t>Historias de usuario</a:t>
            </a:r>
            <a:endParaRPr sz="3600"/>
          </a:p>
        </p:txBody>
      </p:sp>
      <p:sp>
        <p:nvSpPr>
          <p:cNvPr id="121" name="Google Shape;121;p8"/>
          <p:cNvSpPr/>
          <p:nvPr/>
        </p:nvSpPr>
        <p:spPr>
          <a:xfrm>
            <a:off x="822325" y="1894086"/>
            <a:ext cx="10547350" cy="3938389"/>
          </a:xfrm>
          <a:prstGeom prst="roundRect">
            <a:avLst>
              <a:gd fmla="val 2983" name="adj"/>
            </a:avLst>
          </a:prstGeom>
          <a:solidFill>
            <a:srgbClr val="FFFFFF"/>
          </a:solidFill>
          <a:ln cap="flat" cmpd="sng" w="19050">
            <a:solidFill>
              <a:srgbClr val="9AA5A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ook" id="122" name="Google Shape;1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318254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/>
          <p:nvPr/>
        </p:nvSpPr>
        <p:spPr>
          <a:xfrm>
            <a:off x="3326616" y="3919141"/>
            <a:ext cx="5538668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Inserta aquí la imagen de las historias de usuario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3506272" y="4330601"/>
            <a:ext cx="517945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Reemplaza este recuadro por la imagen exportada (PNG o SVG)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EE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53718624b428c802_0_39"/>
          <p:cNvSpPr txBox="1"/>
          <p:nvPr>
            <p:ph type="title"/>
          </p:nvPr>
        </p:nvSpPr>
        <p:spPr>
          <a:xfrm>
            <a:off x="366950" y="195495"/>
            <a:ext cx="10883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ct val="100000"/>
              <a:buFont typeface="Space Grotesk"/>
              <a:buNone/>
            </a:pPr>
            <a:r>
              <a:rPr b="1" lang="en-US"/>
              <a:t>Mapa de Técnologico</a:t>
            </a:r>
            <a:endParaRPr sz="3600"/>
          </a:p>
        </p:txBody>
      </p:sp>
      <p:pic>
        <p:nvPicPr>
          <p:cNvPr id="131" name="Google Shape;131;h53718624b428c802_0_39" title="Mapa Tecnológic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950" y="782645"/>
            <a:ext cx="10363387" cy="5829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EE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53718624b428c802_0_0"/>
          <p:cNvSpPr txBox="1"/>
          <p:nvPr>
            <p:ph type="title"/>
          </p:nvPr>
        </p:nvSpPr>
        <p:spPr>
          <a:xfrm>
            <a:off x="406375" y="253975"/>
            <a:ext cx="113793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ct val="100000"/>
              <a:buFont typeface="Space Grotesk"/>
              <a:buNone/>
            </a:pPr>
            <a:r>
              <a:rPr b="1" lang="en-US"/>
              <a:t>Flujo de Procesos BackToMe (Entrega de Objeto)</a:t>
            </a:r>
            <a:endParaRPr sz="3600"/>
          </a:p>
        </p:txBody>
      </p:sp>
      <p:pic>
        <p:nvPicPr>
          <p:cNvPr descr="Database" id="138" name="Google Shape;138;h53718624b428c80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318254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h53718624b428c802_0_0"/>
          <p:cNvSpPr/>
          <p:nvPr/>
        </p:nvSpPr>
        <p:spPr>
          <a:xfrm>
            <a:off x="3189327" y="3919141"/>
            <a:ext cx="58134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Inserta aquí la imagen del modelo de base de datos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0" name="Google Shape;140;h53718624b428c802_0_0"/>
          <p:cNvSpPr/>
          <p:nvPr/>
        </p:nvSpPr>
        <p:spPr>
          <a:xfrm>
            <a:off x="3506272" y="4330601"/>
            <a:ext cx="5179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Reemplaza este recuadro por la imagen exportada (PNG o SVG)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41" name="Google Shape;141;h53718624b428c802_0_0" title="Flujo BackToMe.drawio.png"/>
          <p:cNvPicPr preferRelativeResize="0"/>
          <p:nvPr/>
        </p:nvPicPr>
        <p:blipFill rotWithShape="1">
          <a:blip r:embed="rId4">
            <a:alphaModFix/>
          </a:blip>
          <a:srcRect b="38156" l="1513" r="62797" t="6680"/>
          <a:stretch/>
        </p:blipFill>
        <p:spPr>
          <a:xfrm>
            <a:off x="941150" y="861775"/>
            <a:ext cx="8980726" cy="570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EE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53718624b428c802_0_10"/>
          <p:cNvSpPr txBox="1"/>
          <p:nvPr>
            <p:ph type="title"/>
          </p:nvPr>
        </p:nvSpPr>
        <p:spPr>
          <a:xfrm>
            <a:off x="406375" y="253975"/>
            <a:ext cx="113793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ct val="100000"/>
              <a:buFont typeface="Space Grotesk"/>
              <a:buNone/>
            </a:pPr>
            <a:r>
              <a:rPr b="1" lang="en-US"/>
              <a:t>Flujo de Procesos BackToMe (Retiro de Objeto)</a:t>
            </a:r>
            <a:endParaRPr sz="3600"/>
          </a:p>
        </p:txBody>
      </p:sp>
      <p:pic>
        <p:nvPicPr>
          <p:cNvPr descr="Database" id="148" name="Google Shape;148;h53718624b428c802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318254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h53718624b428c802_0_10"/>
          <p:cNvSpPr/>
          <p:nvPr/>
        </p:nvSpPr>
        <p:spPr>
          <a:xfrm>
            <a:off x="3189327" y="3919141"/>
            <a:ext cx="58134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Inserta aquí la imagen del modelo de base de datos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0" name="Google Shape;150;h53718624b428c802_0_10"/>
          <p:cNvSpPr/>
          <p:nvPr/>
        </p:nvSpPr>
        <p:spPr>
          <a:xfrm>
            <a:off x="3506272" y="4330601"/>
            <a:ext cx="5179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Reemplaza este recuadro por la imagen exportada (PNG o SVG)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51" name="Google Shape;151;h53718624b428c802_0_10" title="Flujo BackToMe.drawio.png"/>
          <p:cNvPicPr preferRelativeResize="0"/>
          <p:nvPr/>
        </p:nvPicPr>
        <p:blipFill rotWithShape="1">
          <a:blip r:embed="rId4">
            <a:alphaModFix/>
          </a:blip>
          <a:srcRect b="45694" l="38386" r="23844" t="6493"/>
          <a:stretch/>
        </p:blipFill>
        <p:spPr>
          <a:xfrm>
            <a:off x="1264550" y="883600"/>
            <a:ext cx="9662899" cy="576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7FD1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812800" y="2388295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D1AE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7FD1AE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BACKTOME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9" name="Google Shape;159;p11"/>
          <p:cNvSpPr txBox="1"/>
          <p:nvPr>
            <p:ph type="title"/>
          </p:nvPr>
        </p:nvSpPr>
        <p:spPr>
          <a:xfrm>
            <a:off x="812800" y="2891135"/>
            <a:ext cx="10883392" cy="958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6F7F4"/>
              </a:buClr>
              <a:buSzPts val="7000"/>
              <a:buFont typeface="Space Grotesk"/>
              <a:buNone/>
            </a:pPr>
            <a:r>
              <a:rPr b="1" i="0" lang="en-US" sz="7000">
                <a:solidFill>
                  <a:srgbClr val="F6F7F4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Gracias por su atención</a:t>
            </a:r>
            <a:endParaRPr sz="7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ackToMe — Presentación del Proyecto">
  <a:themeElements>
    <a:clrScheme name="BackToMe — Presentación del Proyecto">
      <a:dk1>
        <a:srgbClr val="14213D"/>
      </a:dk1>
      <a:lt1>
        <a:srgbClr val="F6F7F4"/>
      </a:lt1>
      <a:dk2>
        <a:srgbClr val="4D576B"/>
      </a:dk2>
      <a:lt2>
        <a:srgbClr val="DFE2E2"/>
      </a:lt2>
      <a:accent1>
        <a:srgbClr val="1F7A5C"/>
      </a:accent1>
      <a:accent2>
        <a:srgbClr val="7FD1AE"/>
      </a:accent2>
      <a:accent3>
        <a:srgbClr val="6B7280"/>
      </a:accent3>
      <a:accent4>
        <a:srgbClr val="4A5568"/>
      </a:accent4>
      <a:accent5>
        <a:srgbClr val="CFD8E3"/>
      </a:accent5>
      <a:accent6>
        <a:srgbClr val="2D374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ackToMe — Presentación del Proyecto">
  <a:themeElements>
    <a:clrScheme name="BackToMe — Presentación del Proyecto">
      <a:dk1>
        <a:srgbClr val="14213D"/>
      </a:dk1>
      <a:lt1>
        <a:srgbClr val="F6F7F4"/>
      </a:lt1>
      <a:dk2>
        <a:srgbClr val="4D576B"/>
      </a:dk2>
      <a:lt2>
        <a:srgbClr val="DFE2E2"/>
      </a:lt2>
      <a:accent1>
        <a:srgbClr val="1F7A5C"/>
      </a:accent1>
      <a:accent2>
        <a:srgbClr val="7FD1AE"/>
      </a:accent2>
      <a:accent3>
        <a:srgbClr val="6B7280"/>
      </a:accent3>
      <a:accent4>
        <a:srgbClr val="4A5568"/>
      </a:accent4>
      <a:accent5>
        <a:srgbClr val="CFD8E3"/>
      </a:accent5>
      <a:accent6>
        <a:srgbClr val="2D374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2026-10-14T10:05:27Z</dcterms:created>
</cp:coreProperties>
</file>